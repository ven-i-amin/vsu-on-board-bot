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3" r:id="rId5"/>
    <p:sldId id="259" r:id="rId6"/>
    <p:sldId id="260" r:id="rId7"/>
    <p:sldId id="261" r:id="rId8"/>
    <p:sldId id="262" r:id="rId9"/>
    <p:sldId id="263" r:id="rId10"/>
    <p:sldId id="264" r:id="rId11"/>
    <p:sldId id="277" r:id="rId12"/>
    <p:sldId id="275" r:id="rId13"/>
    <p:sldId id="276" r:id="rId14"/>
    <p:sldId id="265" r:id="rId15"/>
    <p:sldId id="266" r:id="rId16"/>
    <p:sldId id="274" r:id="rId1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hape 17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73" name="Shape 17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Aptos"/>
      </a:defRPr>
    </a:lvl1pPr>
    <a:lvl2pPr indent="228600" latinLnBrk="0">
      <a:defRPr sz="1200">
        <a:latin typeface="+mn-lt"/>
        <a:ea typeface="+mn-ea"/>
        <a:cs typeface="+mn-cs"/>
        <a:sym typeface="Aptos"/>
      </a:defRPr>
    </a:lvl2pPr>
    <a:lvl3pPr indent="457200" latinLnBrk="0">
      <a:defRPr sz="1200">
        <a:latin typeface="+mn-lt"/>
        <a:ea typeface="+mn-ea"/>
        <a:cs typeface="+mn-cs"/>
        <a:sym typeface="Aptos"/>
      </a:defRPr>
    </a:lvl3pPr>
    <a:lvl4pPr indent="685800" latinLnBrk="0">
      <a:defRPr sz="1200">
        <a:latin typeface="+mn-lt"/>
        <a:ea typeface="+mn-ea"/>
        <a:cs typeface="+mn-cs"/>
        <a:sym typeface="Aptos"/>
      </a:defRPr>
    </a:lvl4pPr>
    <a:lvl5pPr indent="914400" latinLnBrk="0">
      <a:defRPr sz="1200">
        <a:latin typeface="+mn-lt"/>
        <a:ea typeface="+mn-ea"/>
        <a:cs typeface="+mn-cs"/>
        <a:sym typeface="Aptos"/>
      </a:defRPr>
    </a:lvl5pPr>
    <a:lvl6pPr indent="1143000" latinLnBrk="0">
      <a:defRPr sz="1200">
        <a:latin typeface="+mn-lt"/>
        <a:ea typeface="+mn-ea"/>
        <a:cs typeface="+mn-cs"/>
        <a:sym typeface="Aptos"/>
      </a:defRPr>
    </a:lvl6pPr>
    <a:lvl7pPr indent="1371600" latinLnBrk="0">
      <a:defRPr sz="1200">
        <a:latin typeface="+mn-lt"/>
        <a:ea typeface="+mn-ea"/>
        <a:cs typeface="+mn-cs"/>
        <a:sym typeface="Aptos"/>
      </a:defRPr>
    </a:lvl7pPr>
    <a:lvl8pPr indent="1600200" latinLnBrk="0">
      <a:defRPr sz="1200">
        <a:latin typeface="+mn-lt"/>
        <a:ea typeface="+mn-ea"/>
        <a:cs typeface="+mn-cs"/>
        <a:sym typeface="Aptos"/>
      </a:defRPr>
    </a:lvl8pPr>
    <a:lvl9pPr indent="18288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1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3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757575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757575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757575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757575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757575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9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00" b="1"/>
            </a:lvl1pPr>
            <a:lvl2pPr marL="0" indent="457200">
              <a:buSzTx/>
              <a:buFontTx/>
              <a:buNone/>
              <a:defRPr sz="2400" b="1"/>
            </a:lvl2pPr>
            <a:lvl3pPr marL="0" indent="914400">
              <a:buSzTx/>
              <a:buFontTx/>
              <a:buNone/>
              <a:defRPr sz="2400" b="1"/>
            </a:lvl3pPr>
            <a:lvl4pPr marL="0" indent="1371600">
              <a:buSzTx/>
              <a:buFontTx/>
              <a:buNone/>
              <a:defRPr sz="2400" b="1"/>
            </a:lvl4pPr>
            <a:lvl5pPr marL="0" indent="1828800"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6172200" y="1681163"/>
            <a:ext cx="5183188" cy="823913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2400" b="1"/>
            </a:pPr>
            <a:endParaRPr/>
          </a:p>
        </p:txBody>
      </p:sp>
      <p:sp>
        <p:nvSpPr>
          <p:cNvPr id="5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73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  <a:endParaRPr/>
          </a:p>
        </p:txBody>
      </p:sp>
      <p:sp>
        <p:nvSpPr>
          <p:cNvPr id="7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itle Text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93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02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itle Text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11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757575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757575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757575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757575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757575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1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20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itle Text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2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00" b="1"/>
            </a:lvl1pPr>
            <a:lvl2pPr marL="0" indent="457200">
              <a:buSzTx/>
              <a:buFontTx/>
              <a:buNone/>
              <a:defRPr sz="2400" b="1"/>
            </a:lvl2pPr>
            <a:lvl3pPr marL="0" indent="914400">
              <a:buSzTx/>
              <a:buFontTx/>
              <a:buNone/>
              <a:defRPr sz="2400" b="1"/>
            </a:lvl3pPr>
            <a:lvl4pPr marL="0" indent="1371600">
              <a:buSzTx/>
              <a:buFontTx/>
              <a:buNone/>
              <a:defRPr sz="2400" b="1"/>
            </a:lvl4pPr>
            <a:lvl5pPr marL="0" indent="1828800"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0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6172200" y="1681163"/>
            <a:ext cx="5183188" cy="823913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2400" b="1"/>
            </a:pPr>
            <a:endParaRPr/>
          </a:p>
        </p:txBody>
      </p:sp>
      <p:sp>
        <p:nvSpPr>
          <p:cNvPr id="1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154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5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  <a:endParaRPr/>
          </a:p>
        </p:txBody>
      </p:sp>
      <p:sp>
        <p:nvSpPr>
          <p:cNvPr id="15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164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65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6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80144" y="6404292"/>
            <a:ext cx="273657" cy="2692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ransition spd="med"/>
  <p:hf hdr="0" ftr="0" dt="0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UniText"/>
          <p:cNvSpPr txBox="1"/>
          <p:nvPr/>
        </p:nvSpPr>
        <p:spPr>
          <a:xfrm>
            <a:off x="0" y="348791"/>
            <a:ext cx="12192000" cy="1015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 anchor="ctr">
            <a:spAutoFit/>
          </a:bodyPr>
          <a:lstStyle/>
          <a:p>
            <a:pPr algn="ctr"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2399">
                <a:latin typeface="+mj-lt"/>
                <a:ea typeface="+mj-ea"/>
                <a:cs typeface="+mj-cs"/>
                <a:sym typeface="Helvetica"/>
              </a:defRPr>
            </a:pPr>
            <a:r>
              <a:rPr sz="2000" dirty="0"/>
              <a:t>МИНОБРНАУКИ РОССИИ ФЕДЕРАЛЬНОЕ ГОСУДАРСТВЕННОЕ БЮДЖЕТНОЕ</a:t>
            </a:r>
          </a:p>
          <a:p>
            <a:pPr algn="ctr"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2399">
                <a:latin typeface="+mj-lt"/>
                <a:ea typeface="+mj-ea"/>
                <a:cs typeface="+mj-cs"/>
                <a:sym typeface="Helvetica"/>
              </a:defRPr>
            </a:pPr>
            <a:r>
              <a:rPr sz="2000" dirty="0"/>
              <a:t>ОБРАЗОВАТЕЛЬНОЕ УЧРЕЖДЕНИЕ ВЫСШЕГО ОБРАЗОВАНИЯ «ВОРОНЕЖСКИЙ</a:t>
            </a:r>
          </a:p>
          <a:p>
            <a:pPr algn="ctr"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2399">
                <a:latin typeface="+mj-lt"/>
                <a:ea typeface="+mj-ea"/>
                <a:cs typeface="+mj-cs"/>
                <a:sym typeface="Helvetica"/>
              </a:defRPr>
            </a:pPr>
            <a:r>
              <a:rPr sz="2000" dirty="0"/>
              <a:t>ГОСУДАРСТВЕННЫЙ УНИВЕРСИТЕТ» (ФГБОУ ВО «ВГУ»)</a:t>
            </a:r>
          </a:p>
        </p:txBody>
      </p:sp>
      <p:sp>
        <p:nvSpPr>
          <p:cNvPr id="176" name="Title"/>
          <p:cNvSpPr txBox="1"/>
          <p:nvPr/>
        </p:nvSpPr>
        <p:spPr>
          <a:xfrm>
            <a:off x="2304161" y="3007088"/>
            <a:ext cx="8138161" cy="1183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3600"/>
            </a:lvl1pPr>
          </a:lstStyle>
          <a:p>
            <a:r>
              <a:rPr dirty="0" err="1"/>
              <a:t>Сервис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помощи</a:t>
            </a:r>
            <a:r>
              <a:rPr dirty="0"/>
              <a:t> </a:t>
            </a:r>
            <a:r>
              <a:rPr dirty="0" err="1"/>
              <a:t>иностранным</a:t>
            </a:r>
            <a:r>
              <a:rPr dirty="0"/>
              <a:t> </a:t>
            </a:r>
            <a:r>
              <a:rPr dirty="0" err="1"/>
              <a:t>студентам</a:t>
            </a:r>
            <a:endParaRPr dirty="0"/>
          </a:p>
        </p:txBody>
      </p:sp>
      <p:sp>
        <p:nvSpPr>
          <p:cNvPr id="177" name="Discipline"/>
          <p:cNvSpPr txBox="1"/>
          <p:nvPr/>
        </p:nvSpPr>
        <p:spPr>
          <a:xfrm>
            <a:off x="1018665" y="1729339"/>
            <a:ext cx="10600781" cy="7078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/>
          <a:p>
            <a:pPr algn="ctr"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2399">
                <a:latin typeface="+mj-lt"/>
                <a:ea typeface="+mj-ea"/>
                <a:cs typeface="+mj-cs"/>
                <a:sym typeface="Helvetica"/>
              </a:defRPr>
            </a:pPr>
            <a:r>
              <a:rPr sz="2000" dirty="0" err="1"/>
              <a:t>Факультет</a:t>
            </a:r>
            <a:r>
              <a:rPr sz="2000" dirty="0"/>
              <a:t> </a:t>
            </a:r>
            <a:r>
              <a:rPr sz="2000" dirty="0" err="1"/>
              <a:t>компьютерных</a:t>
            </a:r>
            <a:r>
              <a:rPr sz="2000" dirty="0"/>
              <a:t> </a:t>
            </a:r>
            <a:r>
              <a:rPr sz="2000" dirty="0" err="1"/>
              <a:t>наук</a:t>
            </a:r>
            <a:endParaRPr sz="2000" dirty="0"/>
          </a:p>
          <a:p>
            <a:pPr algn="ctr"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2399">
                <a:latin typeface="+mj-lt"/>
                <a:ea typeface="+mj-ea"/>
                <a:cs typeface="+mj-cs"/>
                <a:sym typeface="Helvetica"/>
              </a:defRPr>
            </a:pPr>
            <a:r>
              <a:rPr sz="2000" dirty="0" err="1"/>
              <a:t>Кафедра</a:t>
            </a:r>
            <a:r>
              <a:rPr sz="2000" dirty="0"/>
              <a:t> </a:t>
            </a:r>
            <a:r>
              <a:rPr sz="2000" dirty="0" err="1"/>
              <a:t>программирования</a:t>
            </a:r>
            <a:r>
              <a:rPr sz="2000" dirty="0"/>
              <a:t> и </a:t>
            </a:r>
            <a:r>
              <a:rPr sz="2000" dirty="0" err="1"/>
              <a:t>информационных</a:t>
            </a:r>
            <a:r>
              <a:rPr sz="2000" dirty="0"/>
              <a:t> </a:t>
            </a:r>
            <a:r>
              <a:rPr sz="2000" dirty="0" err="1"/>
              <a:t>технологий</a:t>
            </a:r>
            <a:endParaRPr sz="2000" dirty="0"/>
          </a:p>
        </p:txBody>
      </p:sp>
      <p:sp>
        <p:nvSpPr>
          <p:cNvPr id="178" name="Authors"/>
          <p:cNvSpPr txBox="1"/>
          <p:nvPr/>
        </p:nvSpPr>
        <p:spPr>
          <a:xfrm>
            <a:off x="4017614" y="5833363"/>
            <a:ext cx="8138161" cy="1005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algn="r"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3000">
                <a:latin typeface="+mj-lt"/>
                <a:ea typeface="+mj-ea"/>
                <a:cs typeface="+mj-cs"/>
                <a:sym typeface="Helvetica"/>
              </a:defRPr>
            </a:pPr>
            <a:r>
              <a:rPr dirty="0" err="1"/>
              <a:t>Консультант</a:t>
            </a:r>
            <a:r>
              <a:rPr dirty="0"/>
              <a:t>: </a:t>
            </a:r>
            <a:r>
              <a:rPr dirty="0" err="1"/>
              <a:t>Ушаков</a:t>
            </a:r>
            <a:r>
              <a:rPr dirty="0"/>
              <a:t> В.А.</a:t>
            </a:r>
          </a:p>
          <a:p>
            <a:pPr algn="r"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3000">
                <a:latin typeface="+mj-lt"/>
                <a:ea typeface="+mj-ea"/>
                <a:cs typeface="+mj-cs"/>
                <a:sym typeface="Helvetica"/>
              </a:defRPr>
            </a:pPr>
            <a:r>
              <a:rPr dirty="0" err="1"/>
              <a:t>Выполнил</a:t>
            </a:r>
            <a:r>
              <a:rPr lang="ru-RU" dirty="0"/>
              <a:t>: Гребенев В. </a:t>
            </a:r>
            <a:r>
              <a:rPr lang="ru-RU"/>
              <a:t>А.</a:t>
            </a:r>
            <a:endParaRPr dirty="0"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" name="Title"/>
          <p:cNvGrpSpPr/>
          <p:nvPr/>
        </p:nvGrpSpPr>
        <p:grpSpPr>
          <a:xfrm>
            <a:off x="457200" y="261937"/>
            <a:ext cx="11053482" cy="574042"/>
            <a:chOff x="0" y="0"/>
            <a:chExt cx="11053481" cy="574040"/>
          </a:xfrm>
        </p:grpSpPr>
        <p:sp>
          <p:nvSpPr>
            <p:cNvPr id="180" name="Rectangle"/>
            <p:cNvSpPr/>
            <p:nvPr/>
          </p:nvSpPr>
          <p:spPr>
            <a:xfrm>
              <a:off x="0" y="12699"/>
              <a:ext cx="11053482" cy="548641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181" name="Введение"/>
            <p:cNvSpPr txBox="1"/>
            <p:nvPr/>
          </p:nvSpPr>
          <p:spPr>
            <a:xfrm>
              <a:off x="52069" y="-1"/>
              <a:ext cx="10949343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3200" b="1"/>
              </a:lvl1pPr>
            </a:lstStyle>
            <a:p>
              <a:r>
                <a:t>Введение</a:t>
              </a:r>
            </a:p>
          </p:txBody>
        </p:sp>
      </p:grpSp>
      <p:sp>
        <p:nvSpPr>
          <p:cNvPr id="183" name="Content"/>
          <p:cNvSpPr txBox="1"/>
          <p:nvPr/>
        </p:nvSpPr>
        <p:spPr>
          <a:xfrm>
            <a:off x="457199" y="1668928"/>
            <a:ext cx="5277972" cy="2316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91439" bIns="91439">
            <a:spAutoFit/>
          </a:bodyPr>
          <a:lstStyle/>
          <a:p>
            <a:pPr marL="285750" indent="-285750">
              <a:lnSpc>
                <a:spcPct val="150000"/>
              </a:lnSpc>
              <a:buSzPct val="100000"/>
              <a:buFont typeface="Arial"/>
              <a:buChar char="•"/>
              <a:defRPr sz="2000"/>
            </a:pPr>
            <a:r>
              <a:t>Количество иностранных студентов в российских университетах постоянно растёт</a:t>
            </a:r>
          </a:p>
          <a:p>
            <a:pPr marL="285750" indent="-285750">
              <a:lnSpc>
                <a:spcPct val="150000"/>
              </a:lnSpc>
              <a:buSzPct val="100000"/>
              <a:buFont typeface="Arial"/>
              <a:buChar char="•"/>
              <a:defRPr sz="2000"/>
            </a:pPr>
            <a:r>
              <a:t>Иностранные студенты сталкиваются с вопросами об учёбе</a:t>
            </a:r>
          </a:p>
        </p:txBody>
      </p:sp>
      <p:pic>
        <p:nvPicPr>
          <p:cNvPr id="184" name="Picture 2" descr="Picture 2"/>
          <p:cNvPicPr>
            <a:picLocks noChangeAspect="1"/>
          </p:cNvPicPr>
          <p:nvPr/>
        </p:nvPicPr>
        <p:blipFill>
          <a:blip r:embed="rId2"/>
          <a:srcRect b="12783"/>
          <a:stretch>
            <a:fillRect/>
          </a:stretch>
        </p:blipFill>
        <p:spPr>
          <a:xfrm>
            <a:off x="5735170" y="1668928"/>
            <a:ext cx="6311154" cy="3669555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E2FF36E-7857-7A84-0E0D-AE708E6AEE41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AU" smtClean="0"/>
              <a:t>2</a:t>
            </a:fld>
            <a:endParaRPr lang="en-AU"/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Title"/>
          <p:cNvGrpSpPr/>
          <p:nvPr/>
        </p:nvGrpSpPr>
        <p:grpSpPr>
          <a:xfrm>
            <a:off x="457200" y="261937"/>
            <a:ext cx="8229600" cy="574042"/>
            <a:chOff x="0" y="0"/>
            <a:chExt cx="8229600" cy="574040"/>
          </a:xfrm>
        </p:grpSpPr>
        <p:sp>
          <p:nvSpPr>
            <p:cNvPr id="186" name="Rectangle"/>
            <p:cNvSpPr/>
            <p:nvPr/>
          </p:nvSpPr>
          <p:spPr>
            <a:xfrm>
              <a:off x="0" y="12699"/>
              <a:ext cx="8229600" cy="548641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187" name="Цель и задачи"/>
            <p:cNvSpPr txBox="1"/>
            <p:nvPr/>
          </p:nvSpPr>
          <p:spPr>
            <a:xfrm>
              <a:off x="52069" y="-1"/>
              <a:ext cx="8125461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3200" b="1"/>
              </a:lvl1pPr>
            </a:lstStyle>
            <a:p>
              <a:r>
                <a:t>Цель и задачи</a:t>
              </a:r>
            </a:p>
          </p:txBody>
        </p:sp>
      </p:grpSp>
      <p:sp>
        <p:nvSpPr>
          <p:cNvPr id="189" name="Goal"/>
          <p:cNvSpPr txBox="1"/>
          <p:nvPr/>
        </p:nvSpPr>
        <p:spPr>
          <a:xfrm>
            <a:off x="813546" y="2598004"/>
            <a:ext cx="10564908" cy="16619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91439" bIns="91439">
            <a:spAutoFit/>
          </a:bodyPr>
          <a:lstStyle>
            <a:lvl1pPr>
              <a:defRPr sz="2400"/>
            </a:lvl1pPr>
          </a:lstStyle>
          <a:p>
            <a:r>
              <a:rPr sz="3200" dirty="0" err="1"/>
              <a:t>Разработать</a:t>
            </a:r>
            <a:r>
              <a:rPr sz="3200" dirty="0"/>
              <a:t> </a:t>
            </a:r>
            <a:r>
              <a:rPr sz="3200" dirty="0" err="1"/>
              <a:t>многоязычную</a:t>
            </a:r>
            <a:r>
              <a:rPr sz="3200" dirty="0"/>
              <a:t> </a:t>
            </a:r>
            <a:r>
              <a:rPr sz="3200" dirty="0" err="1"/>
              <a:t>систему</a:t>
            </a:r>
            <a:r>
              <a:rPr sz="3200" dirty="0"/>
              <a:t> </a:t>
            </a:r>
            <a:r>
              <a:rPr sz="3200" dirty="0" err="1"/>
              <a:t>поддержки</a:t>
            </a:r>
            <a:r>
              <a:rPr sz="3200" dirty="0"/>
              <a:t> </a:t>
            </a:r>
            <a:r>
              <a:rPr sz="3200" dirty="0" err="1"/>
              <a:t>иностранных</a:t>
            </a:r>
            <a:r>
              <a:rPr sz="3200" dirty="0"/>
              <a:t> </a:t>
            </a:r>
            <a:r>
              <a:rPr sz="3200" dirty="0" err="1"/>
              <a:t>студентов</a:t>
            </a:r>
            <a:r>
              <a:rPr sz="3200" dirty="0"/>
              <a:t>, </a:t>
            </a:r>
            <a:r>
              <a:rPr sz="3200" dirty="0" err="1"/>
              <a:t>включающую</a:t>
            </a:r>
            <a:r>
              <a:rPr sz="3200" dirty="0"/>
              <a:t> Telegram-</a:t>
            </a:r>
            <a:r>
              <a:rPr sz="3200" dirty="0" err="1"/>
              <a:t>бота</a:t>
            </a:r>
            <a:r>
              <a:rPr sz="3200" dirty="0"/>
              <a:t>, </a:t>
            </a:r>
            <a:r>
              <a:rPr sz="3200" dirty="0" err="1"/>
              <a:t>веб-приложение</a:t>
            </a:r>
            <a:r>
              <a:rPr sz="3200" dirty="0"/>
              <a:t> и </a:t>
            </a:r>
            <a:r>
              <a:rPr sz="3200" dirty="0" err="1"/>
              <a:t>административную</a:t>
            </a:r>
            <a:r>
              <a:rPr sz="3200" dirty="0"/>
              <a:t> </a:t>
            </a:r>
            <a:r>
              <a:rPr sz="3200" dirty="0" err="1"/>
              <a:t>панель</a:t>
            </a:r>
            <a:endParaRPr sz="3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F89CD2-BAF5-6EB0-BCF5-1F0C2BDDD842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AU" smtClean="0"/>
              <a:t>3</a:t>
            </a:fld>
            <a:endParaRPr lang="en-AU"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TitleText"/>
          <p:cNvSpPr>
            <a:spLocks noGrp="1"/>
          </p:cNvSpPr>
          <p:nvPr/>
        </p:nvSpPr>
        <p:spPr>
          <a:xfrm>
            <a:off x="457200" y="203200"/>
            <a:ext cx="11049000" cy="5715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91440" rIns="91440" bIns="91440" anchor="t"/>
          <a:lstStyle/>
          <a:p>
            <a:pPr>
              <a:defRPr sz="2400" b="1">
                <a:solidFill>
                  <a:srgbClr val="1F1F1F"/>
                </a:solidFill>
              </a:defRPr>
            </a:pPr>
            <a:r>
              <a:rPr lang="ru-RU" sz="3200" b="1" dirty="0">
                <a:solidFill>
                  <a:srgbClr val="1F1F1F"/>
                </a:solidFill>
              </a:rPr>
              <a:t>Анализ аналогов — Russia_on_board</a:t>
            </a:r>
          </a:p>
        </p:txBody>
      </p:sp>
      <p:sp>
        <p:nvSpPr>
          <p:cNvPr id="305" name="DisadvHeader"/>
          <p:cNvSpPr>
            <a:spLocks noGrp="1"/>
          </p:cNvSpPr>
          <p:nvPr/>
        </p:nvSpPr>
        <p:spPr>
          <a:xfrm>
            <a:off x="457200" y="2195843"/>
            <a:ext cx="7366000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91440" tIns="91440" rIns="91440" bIns="91440" anchor="t"/>
          <a:lstStyle/>
          <a:p>
            <a:pPr>
              <a:defRPr sz="1600" b="1"/>
            </a:pPr>
            <a:r>
              <a:rPr lang="ru-RU" sz="2400" b="1" dirty="0">
                <a:solidFill>
                  <a:schemeClr val="tx1"/>
                </a:solidFill>
              </a:rPr>
              <a:t>Выявленные недостатки</a:t>
            </a:r>
          </a:p>
        </p:txBody>
      </p:sp>
      <p:sp>
        <p:nvSpPr>
          <p:cNvPr id="306" name="DisadvList"/>
          <p:cNvSpPr>
            <a:spLocks noGrp="1"/>
          </p:cNvSpPr>
          <p:nvPr/>
        </p:nvSpPr>
        <p:spPr>
          <a:xfrm>
            <a:off x="457200" y="2653043"/>
            <a:ext cx="6004560" cy="304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91440" tIns="91440" rIns="91440" bIns="91440" anchor="t"/>
          <a:lstStyle/>
          <a:p>
            <a:pPr marL="342900" indent="-342900">
              <a:buFont typeface="Arial" panose="020B0604020202020204" pitchFamily="34" charset="0"/>
              <a:buChar char="•"/>
              <a:defRPr sz="1500"/>
            </a:pPr>
            <a:r>
              <a:rPr lang="ru-RU" sz="2400" dirty="0">
                <a:solidFill>
                  <a:srgbClr val="1F1F1F"/>
                </a:solidFill>
              </a:rPr>
              <a:t>Платная модель — ограничивает доступность для студентов</a:t>
            </a:r>
          </a:p>
          <a:p>
            <a:pPr marL="342900" indent="-342900">
              <a:buFont typeface="Arial" panose="020B0604020202020204" pitchFamily="34" charset="0"/>
              <a:buChar char="•"/>
              <a:defRPr sz="1500"/>
            </a:pPr>
            <a:r>
              <a:rPr lang="ru-RU" sz="2400" dirty="0">
                <a:solidFill>
                  <a:srgbClr val="1F1F1F"/>
                </a:solidFill>
              </a:rPr>
              <a:t>Бот не функционирует на момент написания работы</a:t>
            </a:r>
          </a:p>
          <a:p>
            <a:pPr marL="342900" indent="-342900">
              <a:buFont typeface="Arial" panose="020B0604020202020204" pitchFamily="34" charset="0"/>
              <a:buChar char="•"/>
              <a:defRPr sz="1500"/>
            </a:pPr>
            <a:r>
              <a:rPr lang="ru-RU" sz="2400" dirty="0">
                <a:solidFill>
                  <a:srgbClr val="1F1F1F"/>
                </a:solidFill>
              </a:rPr>
              <a:t>Только Telegram — нет веб-интерфейса, снижает охват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19F70A-FFAD-6841-0001-7D92B01858A2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AU" smtClean="0"/>
              <a:t>4</a:t>
            </a:fld>
            <a:endParaRPr lang="en-A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BA8F3D-9A02-8126-AC22-BD8ABBB11C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3100" y="1346609"/>
            <a:ext cx="5873750" cy="4485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568806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3" name="Title"/>
          <p:cNvGrpSpPr/>
          <p:nvPr/>
        </p:nvGrpSpPr>
        <p:grpSpPr>
          <a:xfrm>
            <a:off x="457200" y="261937"/>
            <a:ext cx="8229600" cy="574042"/>
            <a:chOff x="0" y="0"/>
            <a:chExt cx="8229600" cy="574040"/>
          </a:xfrm>
        </p:grpSpPr>
        <p:sp>
          <p:nvSpPr>
            <p:cNvPr id="191" name="Rectangle"/>
            <p:cNvSpPr/>
            <p:nvPr/>
          </p:nvSpPr>
          <p:spPr>
            <a:xfrm>
              <a:off x="0" y="12699"/>
              <a:ext cx="8229600" cy="548641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192" name="Технологический стек"/>
            <p:cNvSpPr txBox="1"/>
            <p:nvPr/>
          </p:nvSpPr>
          <p:spPr>
            <a:xfrm>
              <a:off x="52069" y="-1"/>
              <a:ext cx="8125461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3200" b="1"/>
              </a:lvl1pPr>
            </a:lstStyle>
            <a:p>
              <a:r>
                <a:t>Технологический стек</a:t>
              </a:r>
            </a:p>
          </p:txBody>
        </p:sp>
      </p:grpSp>
      <p:sp>
        <p:nvSpPr>
          <p:cNvPr id="194" name="ColLeft"/>
          <p:cNvSpPr txBox="1"/>
          <p:nvPr/>
        </p:nvSpPr>
        <p:spPr>
          <a:xfrm>
            <a:off x="457200" y="914400"/>
            <a:ext cx="3962400" cy="53390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91439" bIns="91439">
            <a:spAutoFit/>
          </a:bodyPr>
          <a:lstStyle/>
          <a:p>
            <a:pPr>
              <a:defRPr sz="2400" b="1"/>
            </a:pPr>
            <a:r>
              <a:t>Бэкенд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Java 21 + Spring Boot 3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Spring Cloud Gateway (API Gateway)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Spring MVC (Core Service)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Telegram Bot API (tg-bot-service)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JWT-аутентификация</a:t>
            </a:r>
          </a:p>
          <a:p>
            <a:pPr>
              <a:defRPr sz="2400" b="1"/>
            </a:pPr>
            <a:r>
              <a:t>Хранение данных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MongoDB (основная база данных)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Redis (сессии бота, кеш)</a:t>
            </a:r>
          </a:p>
        </p:txBody>
      </p:sp>
      <p:sp>
        <p:nvSpPr>
          <p:cNvPr id="195" name="ColRight"/>
          <p:cNvSpPr txBox="1"/>
          <p:nvPr/>
        </p:nvSpPr>
        <p:spPr>
          <a:xfrm>
            <a:off x="7772402" y="914400"/>
            <a:ext cx="3962401" cy="42341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91439" bIns="91439">
            <a:spAutoFit/>
          </a:bodyPr>
          <a:lstStyle/>
          <a:p>
            <a:pPr>
              <a:defRPr sz="2400" b="1"/>
            </a:pPr>
            <a:r>
              <a:t>Фронтенд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React 19 + TypeScript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Vite (сборщик)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Tiptap 3 (rich-text редактор)</a:t>
            </a:r>
          </a:p>
          <a:p>
            <a:pPr>
              <a:defRPr sz="2400" b="1"/>
            </a:pPr>
            <a:r>
              <a:t>Инфраструктура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Docker + Docker Compose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IBM Semeru Runtimes (OpenJ9 JVM)</a:t>
            </a:r>
          </a:p>
          <a:p>
            <a:pPr marL="228600" indent="-228600">
              <a:buSzPct val="100000"/>
              <a:buChar char="—"/>
              <a:defRPr sz="2400"/>
            </a:pPr>
            <a:r>
              <a:t>Gradle 9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65AEB08-B9B6-AF73-7167-06A34A1665F7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AU" smtClean="0"/>
              <a:t>5</a:t>
            </a:fld>
            <a:endParaRPr lang="en-AU"/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9" name="Title"/>
          <p:cNvGrpSpPr/>
          <p:nvPr/>
        </p:nvGrpSpPr>
        <p:grpSpPr>
          <a:xfrm>
            <a:off x="457200" y="261937"/>
            <a:ext cx="8229600" cy="574042"/>
            <a:chOff x="0" y="0"/>
            <a:chExt cx="8229600" cy="574040"/>
          </a:xfrm>
        </p:grpSpPr>
        <p:sp>
          <p:nvSpPr>
            <p:cNvPr id="197" name="Rectangle"/>
            <p:cNvSpPr/>
            <p:nvPr/>
          </p:nvSpPr>
          <p:spPr>
            <a:xfrm>
              <a:off x="0" y="12699"/>
              <a:ext cx="8229600" cy="548641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198" name="Архитектура системы"/>
            <p:cNvSpPr txBox="1"/>
            <p:nvPr/>
          </p:nvSpPr>
          <p:spPr>
            <a:xfrm>
              <a:off x="52069" y="-1"/>
              <a:ext cx="8125461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3200" b="1"/>
              </a:lvl1pPr>
            </a:lstStyle>
            <a:p>
              <a:r>
                <a:t>Архитектура системы</a:t>
              </a:r>
            </a:p>
          </p:txBody>
        </p:sp>
      </p:grpSp>
      <p:pic>
        <p:nvPicPr>
          <p:cNvPr id="200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961" y="1323135"/>
            <a:ext cx="10346078" cy="4580124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86B7EA-B3BB-3D01-1CBD-5759D9487AD1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AU" smtClean="0"/>
              <a:t>6</a:t>
            </a:fld>
            <a:endParaRPr lang="en-AU"/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4" name="Title"/>
          <p:cNvGrpSpPr/>
          <p:nvPr/>
        </p:nvGrpSpPr>
        <p:grpSpPr>
          <a:xfrm>
            <a:off x="457200" y="261937"/>
            <a:ext cx="8229600" cy="574042"/>
            <a:chOff x="0" y="0"/>
            <a:chExt cx="8229600" cy="574040"/>
          </a:xfrm>
        </p:grpSpPr>
        <p:sp>
          <p:nvSpPr>
            <p:cNvPr id="202" name="Rectangle"/>
            <p:cNvSpPr/>
            <p:nvPr/>
          </p:nvSpPr>
          <p:spPr>
            <a:xfrm>
              <a:off x="0" y="12699"/>
              <a:ext cx="8229600" cy="548641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203" name="Модель данных (MongoDB)"/>
            <p:cNvSpPr txBox="1"/>
            <p:nvPr/>
          </p:nvSpPr>
          <p:spPr>
            <a:xfrm>
              <a:off x="52069" y="-1"/>
              <a:ext cx="8125461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3200" b="1"/>
              </a:lvl1pPr>
            </a:lstStyle>
            <a:p>
              <a:r>
                <a:t>Модель данных (MongoDB)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5D2B349B-4107-C597-514E-C33052AE59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863" y="1301009"/>
            <a:ext cx="10084274" cy="489659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3ABC9F-6C1D-DD7E-AC81-62A9096BB433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AU" smtClean="0"/>
              <a:t>7</a:t>
            </a:fld>
            <a:endParaRPr lang="en-AU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Title"/>
          <p:cNvGrpSpPr/>
          <p:nvPr/>
        </p:nvGrpSpPr>
        <p:grpSpPr>
          <a:xfrm>
            <a:off x="457200" y="261937"/>
            <a:ext cx="8229600" cy="574042"/>
            <a:chOff x="0" y="0"/>
            <a:chExt cx="8229600" cy="574040"/>
          </a:xfrm>
        </p:grpSpPr>
        <p:sp>
          <p:nvSpPr>
            <p:cNvPr id="207" name="Rectangle"/>
            <p:cNvSpPr/>
            <p:nvPr/>
          </p:nvSpPr>
          <p:spPr>
            <a:xfrm>
              <a:off x="0" y="12699"/>
              <a:ext cx="8229600" cy="548641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208" name="API Gateway"/>
            <p:cNvSpPr txBox="1"/>
            <p:nvPr/>
          </p:nvSpPr>
          <p:spPr>
            <a:xfrm>
              <a:off x="52069" y="-1"/>
              <a:ext cx="8125461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3200" b="1"/>
              </a:lvl1pPr>
            </a:lstStyle>
            <a:p>
              <a:r>
                <a:t>API Gateway</a:t>
              </a:r>
            </a:p>
          </p:txBody>
        </p:sp>
      </p:grpSp>
      <p:sp>
        <p:nvSpPr>
          <p:cNvPr id="210" name="Left"/>
          <p:cNvSpPr txBox="1"/>
          <p:nvPr/>
        </p:nvSpPr>
        <p:spPr>
          <a:xfrm>
            <a:off x="457199" y="1532963"/>
            <a:ext cx="5244355" cy="33134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91439" bIns="91439">
            <a:spAutoFit/>
          </a:bodyPr>
          <a:lstStyle/>
          <a:p>
            <a:pPr marL="285750" indent="-285750">
              <a:lnSpc>
                <a:spcPct val="150000"/>
              </a:lnSpc>
              <a:buSzPct val="100000"/>
              <a:buFont typeface="Arial"/>
              <a:buChar char="•"/>
              <a:defRPr sz="2400"/>
            </a:pPr>
            <a:r>
              <a:t>Единая точка входа для всех запросов</a:t>
            </a:r>
          </a:p>
          <a:p>
            <a:pPr marL="285750" indent="-285750">
              <a:lnSpc>
                <a:spcPct val="150000"/>
              </a:lnSpc>
              <a:buSzPct val="100000"/>
              <a:buFont typeface="Arial"/>
              <a:buChar char="•"/>
              <a:defRPr sz="2400"/>
            </a:pPr>
            <a:r>
              <a:t>Фильтр AuthorizationHeaderFilter для админ-эндпоинтов</a:t>
            </a:r>
          </a:p>
          <a:p>
            <a:pPr marL="285750" indent="-285750">
              <a:lnSpc>
                <a:spcPct val="150000"/>
              </a:lnSpc>
              <a:buSzPct val="100000"/>
              <a:buFont typeface="Arial"/>
              <a:buChar char="•"/>
              <a:defRPr sz="2400"/>
            </a:pPr>
            <a:r>
              <a:t>Маршруты: /api/** защищен, /admin, /app, /bot — публичны</a:t>
            </a:r>
          </a:p>
        </p:txBody>
      </p:sp>
      <p:pic>
        <p:nvPicPr>
          <p:cNvPr id="211" name="Picture 2" descr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3392" y="867894"/>
            <a:ext cx="5122210" cy="5122211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6894C5-E5B4-D087-9302-7FC6E739E2B6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AU" smtClean="0"/>
              <a:t>8</a:t>
            </a:fld>
            <a:endParaRPr lang="en-AU"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5" name="Title"/>
          <p:cNvGrpSpPr/>
          <p:nvPr/>
        </p:nvGrpSpPr>
        <p:grpSpPr>
          <a:xfrm>
            <a:off x="457200" y="261937"/>
            <a:ext cx="8229600" cy="574042"/>
            <a:chOff x="0" y="0"/>
            <a:chExt cx="8229600" cy="574040"/>
          </a:xfrm>
        </p:grpSpPr>
        <p:sp>
          <p:nvSpPr>
            <p:cNvPr id="213" name="Rectangle"/>
            <p:cNvSpPr/>
            <p:nvPr/>
          </p:nvSpPr>
          <p:spPr>
            <a:xfrm>
              <a:off x="0" y="12699"/>
              <a:ext cx="8229600" cy="548641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214" name="Core Service"/>
            <p:cNvSpPr txBox="1"/>
            <p:nvPr/>
          </p:nvSpPr>
          <p:spPr>
            <a:xfrm>
              <a:off x="52069" y="-1"/>
              <a:ext cx="8125461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3200" b="1"/>
              </a:lvl1pPr>
            </a:lstStyle>
            <a:p>
              <a:r>
                <a:t>Core Service</a:t>
              </a:r>
            </a:p>
          </p:txBody>
        </p:sp>
      </p:grpSp>
      <p:sp>
        <p:nvSpPr>
          <p:cNvPr id="216" name="Right"/>
          <p:cNvSpPr txBox="1"/>
          <p:nvPr/>
        </p:nvSpPr>
        <p:spPr>
          <a:xfrm>
            <a:off x="457199" y="1798542"/>
            <a:ext cx="5156949" cy="27609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91439" bIns="91439">
            <a:spAutoFit/>
          </a:bodyPr>
          <a:lstStyle/>
          <a:p>
            <a:pPr marL="342900" indent="-342900">
              <a:lnSpc>
                <a:spcPct val="150000"/>
              </a:lnSpc>
              <a:buSzPct val="100000"/>
              <a:buFont typeface="Arial"/>
              <a:buChar char="•"/>
              <a:defRPr sz="2400"/>
            </a:pPr>
            <a:r>
              <a:rPr dirty="0" err="1"/>
              <a:t>Центральный</a:t>
            </a:r>
            <a:r>
              <a:rPr dirty="0"/>
              <a:t> </a:t>
            </a:r>
            <a:r>
              <a:rPr dirty="0" err="1"/>
              <a:t>компонент</a:t>
            </a:r>
            <a:endParaRPr dirty="0"/>
          </a:p>
          <a:p>
            <a:pPr marL="342900" indent="-342900">
              <a:lnSpc>
                <a:spcPct val="150000"/>
              </a:lnSpc>
              <a:buSzPct val="100000"/>
              <a:buFont typeface="Arial"/>
              <a:buChar char="•"/>
              <a:defRPr sz="2400"/>
            </a:pPr>
            <a:r>
              <a:rPr dirty="0" err="1"/>
              <a:t>чтение</a:t>
            </a:r>
            <a:r>
              <a:rPr dirty="0"/>
              <a:t> </a:t>
            </a:r>
            <a:r>
              <a:rPr dirty="0" err="1"/>
              <a:t>групп</a:t>
            </a:r>
            <a:r>
              <a:rPr dirty="0"/>
              <a:t>, </a:t>
            </a:r>
            <a:r>
              <a:rPr dirty="0" err="1"/>
              <a:t>вопросов</a:t>
            </a:r>
            <a:r>
              <a:rPr dirty="0"/>
              <a:t>, </a:t>
            </a:r>
            <a:r>
              <a:rPr dirty="0" err="1"/>
              <a:t>файлов</a:t>
            </a:r>
            <a:endParaRPr dirty="0"/>
          </a:p>
          <a:p>
            <a:pPr marL="342900" indent="-342900">
              <a:lnSpc>
                <a:spcPct val="150000"/>
              </a:lnSpc>
              <a:buSzPct val="100000"/>
              <a:buFont typeface="Arial"/>
              <a:buChar char="•"/>
              <a:defRPr sz="2400"/>
            </a:pPr>
            <a:r>
              <a:rPr dirty="0"/>
              <a:t>CRUD </a:t>
            </a:r>
            <a:r>
              <a:rPr dirty="0" err="1"/>
              <a:t>разделов</a:t>
            </a:r>
            <a:r>
              <a:rPr dirty="0"/>
              <a:t>, </a:t>
            </a:r>
            <a:r>
              <a:rPr dirty="0" err="1"/>
              <a:t>вопросов</a:t>
            </a:r>
            <a:r>
              <a:rPr dirty="0"/>
              <a:t>, </a:t>
            </a:r>
            <a:r>
              <a:rPr dirty="0" err="1"/>
              <a:t>языков</a:t>
            </a:r>
            <a:r>
              <a:rPr dirty="0"/>
              <a:t>, </a:t>
            </a:r>
            <a:r>
              <a:rPr dirty="0" err="1"/>
              <a:t>статистика</a:t>
            </a:r>
            <a:endParaRPr dirty="0"/>
          </a:p>
        </p:txBody>
      </p:sp>
      <p:pic>
        <p:nvPicPr>
          <p:cNvPr id="217" name="Picture 2" descr="Picture 2"/>
          <p:cNvPicPr>
            <a:picLocks noChangeAspect="1"/>
          </p:cNvPicPr>
          <p:nvPr/>
        </p:nvPicPr>
        <p:blipFill>
          <a:blip r:embed="rId2"/>
          <a:srcRect t="6432" b="11659"/>
          <a:stretch>
            <a:fillRect/>
          </a:stretch>
        </p:blipFill>
        <p:spPr>
          <a:xfrm>
            <a:off x="5460106" y="1723387"/>
            <a:ext cx="6349247" cy="2911290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3592DB-D388-AD58-285E-BCBFF2E34A6F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AU" smtClean="0"/>
              <a:t>9</a:t>
            </a:fld>
            <a:endParaRPr lang="en-AU"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1" name="Title"/>
          <p:cNvGrpSpPr/>
          <p:nvPr/>
        </p:nvGrpSpPr>
        <p:grpSpPr>
          <a:xfrm>
            <a:off x="457200" y="261937"/>
            <a:ext cx="8229600" cy="574042"/>
            <a:chOff x="0" y="0"/>
            <a:chExt cx="8229600" cy="574040"/>
          </a:xfrm>
        </p:grpSpPr>
        <p:sp>
          <p:nvSpPr>
            <p:cNvPr id="219" name="Rectangle"/>
            <p:cNvSpPr/>
            <p:nvPr/>
          </p:nvSpPr>
          <p:spPr>
            <a:xfrm>
              <a:off x="0" y="12699"/>
              <a:ext cx="8229600" cy="548641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220" name="Сервис Telegram-бота"/>
            <p:cNvSpPr txBox="1"/>
            <p:nvPr/>
          </p:nvSpPr>
          <p:spPr>
            <a:xfrm>
              <a:off x="52069" y="-1"/>
              <a:ext cx="8125461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3200" b="1"/>
              </a:lvl1pPr>
            </a:lstStyle>
            <a:p>
              <a:r>
                <a:t>Сервис Telegram-бота</a:t>
              </a:r>
            </a:p>
          </p:txBody>
        </p:sp>
      </p:grpSp>
      <p:sp>
        <p:nvSpPr>
          <p:cNvPr id="222" name="Left"/>
          <p:cNvSpPr txBox="1"/>
          <p:nvPr/>
        </p:nvSpPr>
        <p:spPr>
          <a:xfrm>
            <a:off x="457199" y="1364876"/>
            <a:ext cx="5331761" cy="44500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91439" bIns="91439">
            <a:spAutoFit/>
          </a:bodyPr>
          <a:lstStyle/>
          <a:p>
            <a:pPr>
              <a:defRPr sz="2000" b="1"/>
            </a:pPr>
            <a:r>
              <a:rPr dirty="0" err="1"/>
              <a:t>Группы</a:t>
            </a:r>
            <a:r>
              <a:rPr dirty="0"/>
              <a:t> </a:t>
            </a:r>
            <a:r>
              <a:rPr dirty="0" err="1"/>
              <a:t>состояний</a:t>
            </a:r>
            <a:r>
              <a:rPr dirty="0"/>
              <a:t> </a:t>
            </a:r>
            <a:r>
              <a:rPr dirty="0" err="1"/>
              <a:t>botState</a:t>
            </a:r>
            <a:r>
              <a:rPr dirty="0"/>
              <a:t>:</a:t>
            </a:r>
          </a:p>
          <a:p>
            <a:pPr>
              <a:defRPr sz="2000" b="1"/>
            </a:pPr>
            <a:r>
              <a:rPr dirty="0"/>
              <a:t>LISTEN</a:t>
            </a:r>
            <a:r>
              <a:rPr b="0" dirty="0"/>
              <a:t>: </a:t>
            </a:r>
            <a:r>
              <a:rPr b="0" dirty="0" err="1"/>
              <a:t>ожидание</a:t>
            </a:r>
            <a:r>
              <a:rPr b="0" dirty="0"/>
              <a:t> </a:t>
            </a:r>
            <a:r>
              <a:rPr b="0" dirty="0" err="1"/>
              <a:t>ответа</a:t>
            </a:r>
            <a:r>
              <a:rPr b="0" dirty="0"/>
              <a:t> </a:t>
            </a:r>
            <a:r>
              <a:rPr b="0" dirty="0" err="1"/>
              <a:t>пользователя</a:t>
            </a:r>
            <a:endParaRPr b="0" dirty="0"/>
          </a:p>
          <a:p>
            <a:pPr>
              <a:defRPr sz="2000" b="1"/>
            </a:pPr>
            <a:r>
              <a:rPr dirty="0"/>
              <a:t>ANSWER</a:t>
            </a:r>
            <a:r>
              <a:rPr b="0" dirty="0"/>
              <a:t>: </a:t>
            </a:r>
            <a:r>
              <a:rPr b="0" dirty="0" err="1"/>
              <a:t>отправка</a:t>
            </a:r>
            <a:r>
              <a:rPr b="0" dirty="0"/>
              <a:t> </a:t>
            </a:r>
            <a:r>
              <a:rPr b="0" dirty="0" err="1"/>
              <a:t>сообщения</a:t>
            </a:r>
            <a:r>
              <a:rPr b="0" dirty="0"/>
              <a:t> </a:t>
            </a:r>
            <a:r>
              <a:rPr b="0" dirty="0" err="1"/>
              <a:t>пользователю</a:t>
            </a:r>
            <a:endParaRPr b="0" dirty="0"/>
          </a:p>
          <a:p>
            <a:pPr>
              <a:defRPr sz="2000" b="1"/>
            </a:pPr>
            <a:r>
              <a:rPr dirty="0"/>
              <a:t>DELETE</a:t>
            </a:r>
            <a:r>
              <a:rPr b="0" dirty="0"/>
              <a:t>: </a:t>
            </a:r>
            <a:r>
              <a:rPr b="0" dirty="0" err="1"/>
              <a:t>удаление</a:t>
            </a:r>
            <a:r>
              <a:rPr b="0" dirty="0"/>
              <a:t> </a:t>
            </a:r>
            <a:r>
              <a:rPr b="0" dirty="0" err="1"/>
              <a:t>старого</a:t>
            </a:r>
            <a:r>
              <a:rPr b="0" dirty="0"/>
              <a:t> </a:t>
            </a:r>
            <a:r>
              <a:rPr b="0" dirty="0" err="1"/>
              <a:t>сообщения</a:t>
            </a:r>
            <a:endParaRPr b="0" dirty="0"/>
          </a:p>
          <a:p>
            <a:pPr>
              <a:defRPr sz="2000"/>
            </a:pPr>
            <a:endParaRPr b="0" dirty="0"/>
          </a:p>
          <a:p>
            <a:pPr>
              <a:defRPr sz="2000" b="1"/>
            </a:pPr>
            <a:r>
              <a:rPr dirty="0" err="1"/>
              <a:t>Группа</a:t>
            </a:r>
            <a:r>
              <a:rPr dirty="0"/>
              <a:t> </a:t>
            </a:r>
            <a:r>
              <a:rPr dirty="0" err="1"/>
              <a:t>MessageState</a:t>
            </a:r>
            <a:endParaRPr dirty="0"/>
          </a:p>
          <a:p>
            <a:pPr>
              <a:defRPr sz="2000"/>
            </a:pPr>
            <a:r>
              <a:rPr dirty="0" err="1"/>
              <a:t>Определяет</a:t>
            </a:r>
            <a:r>
              <a:rPr dirty="0"/>
              <a:t> </a:t>
            </a:r>
            <a:r>
              <a:rPr dirty="0" err="1"/>
              <a:t>тип</a:t>
            </a:r>
            <a:r>
              <a:rPr dirty="0"/>
              <a:t> </a:t>
            </a:r>
            <a:r>
              <a:rPr dirty="0" err="1"/>
              <a:t>передаваемого</a:t>
            </a:r>
            <a:r>
              <a:rPr dirty="0"/>
              <a:t>/</a:t>
            </a:r>
            <a:r>
              <a:rPr dirty="0" err="1"/>
              <a:t>ожидаемого</a:t>
            </a:r>
            <a:r>
              <a:rPr dirty="0"/>
              <a:t> </a:t>
            </a:r>
            <a:r>
              <a:rPr dirty="0" err="1"/>
              <a:t>сообщения</a:t>
            </a:r>
            <a:endParaRPr dirty="0"/>
          </a:p>
          <a:p>
            <a:pPr>
              <a:defRPr sz="2000" b="1"/>
            </a:pPr>
            <a:endParaRPr dirty="0"/>
          </a:p>
          <a:p>
            <a:pPr>
              <a:defRPr sz="2000" b="1"/>
            </a:pPr>
            <a:r>
              <a:rPr dirty="0" err="1"/>
              <a:t>Глобальные</a:t>
            </a:r>
            <a:r>
              <a:rPr dirty="0"/>
              <a:t> </a:t>
            </a:r>
            <a:r>
              <a:rPr dirty="0" err="1"/>
              <a:t>состояния</a:t>
            </a:r>
            <a:r>
              <a:rPr dirty="0"/>
              <a:t> (</a:t>
            </a:r>
            <a:r>
              <a:rPr dirty="0" err="1"/>
              <a:t>MainMenuState</a:t>
            </a:r>
            <a:r>
              <a:rPr dirty="0"/>
              <a:t>):</a:t>
            </a:r>
          </a:p>
          <a:p>
            <a:pPr>
              <a:defRPr sz="2000"/>
            </a:pPr>
            <a:r>
              <a:rPr dirty="0" err="1"/>
              <a:t>Обрабатываются</a:t>
            </a:r>
            <a:r>
              <a:rPr dirty="0"/>
              <a:t> </a:t>
            </a:r>
            <a:r>
              <a:rPr dirty="0" err="1"/>
              <a:t>всегда</a:t>
            </a:r>
            <a:r>
              <a:rPr dirty="0"/>
              <a:t>: </a:t>
            </a:r>
            <a:r>
              <a:rPr dirty="0" err="1"/>
              <a:t>возврат</a:t>
            </a:r>
            <a:r>
              <a:rPr dirty="0"/>
              <a:t> в </a:t>
            </a:r>
            <a:r>
              <a:rPr dirty="0" err="1"/>
              <a:t>главное</a:t>
            </a:r>
            <a:r>
              <a:rPr dirty="0"/>
              <a:t> </a:t>
            </a:r>
            <a:r>
              <a:rPr dirty="0" err="1"/>
              <a:t>меню</a:t>
            </a:r>
            <a:r>
              <a:rPr dirty="0"/>
              <a:t>, </a:t>
            </a:r>
            <a:r>
              <a:rPr dirty="0" err="1"/>
              <a:t>смена</a:t>
            </a:r>
            <a:r>
              <a:rPr dirty="0"/>
              <a:t> </a:t>
            </a:r>
            <a:r>
              <a:rPr dirty="0" err="1"/>
              <a:t>языка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D9F64C-AF30-B39F-6DC1-CE2CFBA16472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AU" smtClean="0"/>
              <a:t>10</a:t>
            </a:fld>
            <a:endParaRPr lang="en-A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F5496B-F79D-A933-82C3-44316878F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4279" y="471074"/>
            <a:ext cx="3705742" cy="5915851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540D064-322C-DF9E-E268-A17C0A989334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AU" smtClean="0"/>
              <a:t>11</a:t>
            </a:fld>
            <a:endParaRPr lang="en-AU"/>
          </a:p>
        </p:txBody>
      </p:sp>
      <p:grpSp>
        <p:nvGrpSpPr>
          <p:cNvPr id="3" name="Title">
            <a:extLst>
              <a:ext uri="{FF2B5EF4-FFF2-40B4-BE49-F238E27FC236}">
                <a16:creationId xmlns:a16="http://schemas.microsoft.com/office/drawing/2014/main" id="{658E7016-081B-0C24-1ED6-65EB1265AF43}"/>
              </a:ext>
            </a:extLst>
          </p:cNvPr>
          <p:cNvGrpSpPr/>
          <p:nvPr/>
        </p:nvGrpSpPr>
        <p:grpSpPr>
          <a:xfrm>
            <a:off x="457200" y="238506"/>
            <a:ext cx="8229600" cy="584773"/>
            <a:chOff x="0" y="-23431"/>
            <a:chExt cx="8229600" cy="584771"/>
          </a:xfrm>
        </p:grpSpPr>
        <p:sp>
          <p:nvSpPr>
            <p:cNvPr id="4" name="Rectangle">
              <a:extLst>
                <a:ext uri="{FF2B5EF4-FFF2-40B4-BE49-F238E27FC236}">
                  <a16:creationId xmlns:a16="http://schemas.microsoft.com/office/drawing/2014/main" id="{33362D8B-C296-D979-36C5-7BD2087CAD5C}"/>
                </a:ext>
              </a:extLst>
            </p:cNvPr>
            <p:cNvSpPr/>
            <p:nvPr/>
          </p:nvSpPr>
          <p:spPr>
            <a:xfrm>
              <a:off x="0" y="12699"/>
              <a:ext cx="8229600" cy="548641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5" name="Сервис Telegram-бота">
              <a:extLst>
                <a:ext uri="{FF2B5EF4-FFF2-40B4-BE49-F238E27FC236}">
                  <a16:creationId xmlns:a16="http://schemas.microsoft.com/office/drawing/2014/main" id="{83FC4DC6-DB9E-AF93-C7E2-419AACB0EC12}"/>
                </a:ext>
              </a:extLst>
            </p:cNvPr>
            <p:cNvSpPr txBox="1"/>
            <p:nvPr/>
          </p:nvSpPr>
          <p:spPr>
            <a:xfrm>
              <a:off x="52069" y="-23431"/>
              <a:ext cx="8125461" cy="58477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3200" b="1"/>
              </a:lvl1pPr>
            </a:lstStyle>
            <a:p>
              <a:pPr marL="0" marR="0" indent="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3200" i="0" u="none" strike="noStrike" cap="none" spc="0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+mn-lt"/>
                  <a:ea typeface="+mn-ea"/>
                  <a:cs typeface="+mn-cs"/>
                  <a:sym typeface="Aptos"/>
                </a:rPr>
                <a:t>Безопасность</a:t>
              </a:r>
              <a:endParaRPr kumimoji="0" lang="en-AU" sz="320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endParaRPr>
            </a:p>
          </p:txBody>
        </p:sp>
      </p:grpSp>
      <p:sp>
        <p:nvSpPr>
          <p:cNvPr id="9" name="Right">
            <a:extLst>
              <a:ext uri="{FF2B5EF4-FFF2-40B4-BE49-F238E27FC236}">
                <a16:creationId xmlns:a16="http://schemas.microsoft.com/office/drawing/2014/main" id="{445DA7A4-F611-4331-FA53-FF20F979F0B5}"/>
              </a:ext>
            </a:extLst>
          </p:cNvPr>
          <p:cNvSpPr txBox="1"/>
          <p:nvPr/>
        </p:nvSpPr>
        <p:spPr>
          <a:xfrm>
            <a:off x="457200" y="1978315"/>
            <a:ext cx="4602481" cy="29013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tIns="91439" bIns="91439">
            <a:spAutoFit/>
          </a:bodyPr>
          <a:lstStyle/>
          <a:p>
            <a:pPr marL="342900" indent="-342900"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  <a:defRPr sz="2400"/>
            </a:pPr>
            <a:r>
              <a:rPr lang="ru-RU" dirty="0"/>
              <a:t>Для аутентицикации используется </a:t>
            </a:r>
            <a:r>
              <a:rPr lang="en-US" dirty="0"/>
              <a:t>JWT</a:t>
            </a:r>
            <a:r>
              <a:rPr lang="ru-RU" dirty="0"/>
              <a:t>-токены </a:t>
            </a:r>
            <a:r>
              <a:rPr lang="en-US" dirty="0"/>
              <a:t>(RSA-256)</a:t>
            </a:r>
          </a:p>
          <a:p>
            <a:pPr marL="342900" indent="-342900"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  <a:defRPr sz="2400"/>
            </a:pPr>
            <a:r>
              <a:rPr lang="ru-RU" dirty="0"/>
              <a:t>Хэширование паролей через </a:t>
            </a:r>
            <a:r>
              <a:rPr lang="en-US" dirty="0" err="1"/>
              <a:t>BCrypt</a:t>
            </a:r>
            <a:endParaRPr dirty="0"/>
          </a:p>
        </p:txBody>
      </p:sp>
      <p:pic>
        <p:nvPicPr>
          <p:cNvPr id="3074" name="Picture 2" descr="Токен авторизации на примере JSON WEB Token / Хабр">
            <a:extLst>
              <a:ext uri="{FF2B5EF4-FFF2-40B4-BE49-F238E27FC236}">
                <a16:creationId xmlns:a16="http://schemas.microsoft.com/office/drawing/2014/main" id="{20033BA2-0CCD-FD9F-AA1F-5ABEDD4E6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8049" y="1567112"/>
            <a:ext cx="6493362" cy="3601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2509604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909E189-8E7F-254F-5D34-FCB302BFE4C7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AU" smtClean="0"/>
              <a:t>12</a:t>
            </a:fld>
            <a:endParaRPr lang="en-AU"/>
          </a:p>
        </p:txBody>
      </p:sp>
      <p:grpSp>
        <p:nvGrpSpPr>
          <p:cNvPr id="4" name="Title">
            <a:extLst>
              <a:ext uri="{FF2B5EF4-FFF2-40B4-BE49-F238E27FC236}">
                <a16:creationId xmlns:a16="http://schemas.microsoft.com/office/drawing/2014/main" id="{1F5D9A92-53DD-9804-613F-68F88C8B468F}"/>
              </a:ext>
            </a:extLst>
          </p:cNvPr>
          <p:cNvGrpSpPr/>
          <p:nvPr/>
        </p:nvGrpSpPr>
        <p:grpSpPr>
          <a:xfrm>
            <a:off x="457200" y="238506"/>
            <a:ext cx="8229600" cy="584773"/>
            <a:chOff x="0" y="-23431"/>
            <a:chExt cx="8229600" cy="584771"/>
          </a:xfrm>
        </p:grpSpPr>
        <p:sp>
          <p:nvSpPr>
            <p:cNvPr id="5" name="Rectangle">
              <a:extLst>
                <a:ext uri="{FF2B5EF4-FFF2-40B4-BE49-F238E27FC236}">
                  <a16:creationId xmlns:a16="http://schemas.microsoft.com/office/drawing/2014/main" id="{3E274DB4-1948-8C9F-6F59-E8503ACF5523}"/>
                </a:ext>
              </a:extLst>
            </p:cNvPr>
            <p:cNvSpPr/>
            <p:nvPr/>
          </p:nvSpPr>
          <p:spPr>
            <a:xfrm>
              <a:off x="0" y="12699"/>
              <a:ext cx="8229600" cy="548641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6" name="Сервис Telegram-бота">
              <a:extLst>
                <a:ext uri="{FF2B5EF4-FFF2-40B4-BE49-F238E27FC236}">
                  <a16:creationId xmlns:a16="http://schemas.microsoft.com/office/drawing/2014/main" id="{746132A3-CF24-82EB-4B7D-38E422D28550}"/>
                </a:ext>
              </a:extLst>
            </p:cNvPr>
            <p:cNvSpPr txBox="1"/>
            <p:nvPr/>
          </p:nvSpPr>
          <p:spPr>
            <a:xfrm>
              <a:off x="52069" y="-23431"/>
              <a:ext cx="8125461" cy="58477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3200" b="1"/>
              </a:lvl1pPr>
            </a:lstStyle>
            <a:p>
              <a:pPr marL="0" marR="0" indent="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3200" i="0" u="none" strike="noStrike" cap="none" spc="0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+mn-lt"/>
                  <a:ea typeface="+mn-ea"/>
                  <a:cs typeface="+mn-cs"/>
                  <a:sym typeface="Aptos"/>
                </a:rPr>
                <a:t>Поддержка языков</a:t>
              </a:r>
              <a:endParaRPr kumimoji="0" lang="en-AU" sz="320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endParaRPr>
            </a:p>
          </p:txBody>
        </p:sp>
      </p:grpSp>
      <p:sp>
        <p:nvSpPr>
          <p:cNvPr id="12" name="Right">
            <a:extLst>
              <a:ext uri="{FF2B5EF4-FFF2-40B4-BE49-F238E27FC236}">
                <a16:creationId xmlns:a16="http://schemas.microsoft.com/office/drawing/2014/main" id="{B4E61D36-BAAF-F654-C961-F5ADD2F06763}"/>
              </a:ext>
            </a:extLst>
          </p:cNvPr>
          <p:cNvSpPr txBox="1"/>
          <p:nvPr/>
        </p:nvSpPr>
        <p:spPr>
          <a:xfrm>
            <a:off x="509269" y="1978315"/>
            <a:ext cx="5156949" cy="29013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tIns="91439" bIns="91439">
            <a:spAutoFit/>
          </a:bodyPr>
          <a:lstStyle/>
          <a:p>
            <a:pPr marL="342900" indent="-342900">
              <a:lnSpc>
                <a:spcPct val="150000"/>
              </a:lnSpc>
              <a:buSzPct val="100000"/>
              <a:buFont typeface="Arial"/>
              <a:buChar char="•"/>
              <a:defRPr sz="2400"/>
            </a:pPr>
            <a:r>
              <a:rPr lang="ru-RU" dirty="0"/>
              <a:t>Русский</a:t>
            </a:r>
          </a:p>
          <a:p>
            <a:pPr marL="342900" indent="-342900">
              <a:lnSpc>
                <a:spcPct val="150000"/>
              </a:lnSpc>
              <a:buSzPct val="100000"/>
              <a:buFont typeface="Arial"/>
              <a:buChar char="•"/>
              <a:defRPr sz="2400"/>
            </a:pPr>
            <a:r>
              <a:rPr lang="ru-RU" dirty="0"/>
              <a:t>Английский</a:t>
            </a:r>
          </a:p>
          <a:p>
            <a:pPr marL="342900" indent="-342900">
              <a:lnSpc>
                <a:spcPct val="150000"/>
              </a:lnSpc>
              <a:buSzPct val="100000"/>
              <a:buFont typeface="Arial"/>
              <a:buChar char="•"/>
              <a:defRPr sz="2400"/>
            </a:pPr>
            <a:r>
              <a:rPr lang="ru-RU" dirty="0"/>
              <a:t>Французский</a:t>
            </a:r>
          </a:p>
          <a:p>
            <a:pPr marL="342900" indent="-342900">
              <a:lnSpc>
                <a:spcPct val="150000"/>
              </a:lnSpc>
              <a:buSzPct val="100000"/>
              <a:buFont typeface="Arial"/>
              <a:buChar char="•"/>
              <a:defRPr sz="2400"/>
            </a:pPr>
            <a:r>
              <a:rPr lang="ru-RU" dirty="0"/>
              <a:t>Испанский</a:t>
            </a:r>
          </a:p>
          <a:p>
            <a:pPr marL="342900" indent="-342900">
              <a:lnSpc>
                <a:spcPct val="150000"/>
              </a:lnSpc>
              <a:buSzPct val="100000"/>
              <a:buFont typeface="Arial"/>
              <a:buChar char="•"/>
              <a:defRPr sz="2400"/>
            </a:pPr>
            <a:r>
              <a:rPr lang="ru-RU" dirty="0"/>
              <a:t>Китайский</a:t>
            </a:r>
            <a:endParaRPr dirty="0"/>
          </a:p>
        </p:txBody>
      </p:sp>
      <p:pic>
        <p:nvPicPr>
          <p:cNvPr id="1046" name="Picture 22" descr="Флаг">
            <a:extLst>
              <a:ext uri="{FF2B5EF4-FFF2-40B4-BE49-F238E27FC236}">
                <a16:creationId xmlns:a16="http://schemas.microsoft.com/office/drawing/2014/main" id="{5F214CC3-3517-61EE-C9EF-787848AA0B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37209" y="4404691"/>
            <a:ext cx="2381250" cy="119062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Флаг">
            <a:extLst>
              <a:ext uri="{FF2B5EF4-FFF2-40B4-BE49-F238E27FC236}">
                <a16:creationId xmlns:a16="http://schemas.microsoft.com/office/drawing/2014/main" id="{D88AA5CA-805A-D3F4-CE30-0DBF6344BC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6208" y="885278"/>
            <a:ext cx="2381250" cy="159067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2" name="Picture 28" descr="Флаг">
            <a:extLst>
              <a:ext uri="{FF2B5EF4-FFF2-40B4-BE49-F238E27FC236}">
                <a16:creationId xmlns:a16="http://schemas.microsoft.com/office/drawing/2014/main" id="{C5F2D5A8-146E-C7E0-43B6-1FFCFDC597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20186" y="1813891"/>
            <a:ext cx="2381250" cy="159067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0" name="Picture 26" descr="Флаг">
            <a:extLst>
              <a:ext uri="{FF2B5EF4-FFF2-40B4-BE49-F238E27FC236}">
                <a16:creationId xmlns:a16="http://schemas.microsoft.com/office/drawing/2014/main" id="{C5EBC2B2-20BE-B3BD-C2D0-2D0180ED6A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5550" y="4627891"/>
            <a:ext cx="2381250" cy="159067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4" name="Picture 20" descr="Флаг">
            <a:extLst>
              <a:ext uri="{FF2B5EF4-FFF2-40B4-BE49-F238E27FC236}">
                <a16:creationId xmlns:a16="http://schemas.microsoft.com/office/drawing/2014/main" id="{C539316D-7267-87AC-4EE1-1F383CA348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0880" y="2791373"/>
            <a:ext cx="2381250" cy="159067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591331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9DF9779-357D-E5C4-0DBC-3EE4DB66D4FC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AU" smtClean="0"/>
              <a:t>13</a:t>
            </a:fld>
            <a:endParaRPr lang="en-AU"/>
          </a:p>
        </p:txBody>
      </p:sp>
      <p:grpSp>
        <p:nvGrpSpPr>
          <p:cNvPr id="3" name="Title">
            <a:extLst>
              <a:ext uri="{FF2B5EF4-FFF2-40B4-BE49-F238E27FC236}">
                <a16:creationId xmlns:a16="http://schemas.microsoft.com/office/drawing/2014/main" id="{558E4A6D-D457-0060-224C-65FA262877D5}"/>
              </a:ext>
            </a:extLst>
          </p:cNvPr>
          <p:cNvGrpSpPr/>
          <p:nvPr/>
        </p:nvGrpSpPr>
        <p:grpSpPr>
          <a:xfrm>
            <a:off x="457200" y="238506"/>
            <a:ext cx="8229600" cy="584773"/>
            <a:chOff x="0" y="-23431"/>
            <a:chExt cx="8229600" cy="584771"/>
          </a:xfrm>
        </p:grpSpPr>
        <p:sp>
          <p:nvSpPr>
            <p:cNvPr id="4" name="Rectangle">
              <a:extLst>
                <a:ext uri="{FF2B5EF4-FFF2-40B4-BE49-F238E27FC236}">
                  <a16:creationId xmlns:a16="http://schemas.microsoft.com/office/drawing/2014/main" id="{CC82A3DF-30EF-F084-6817-1650A5300C92}"/>
                </a:ext>
              </a:extLst>
            </p:cNvPr>
            <p:cNvSpPr/>
            <p:nvPr/>
          </p:nvSpPr>
          <p:spPr>
            <a:xfrm>
              <a:off x="0" y="12699"/>
              <a:ext cx="8229600" cy="548641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5" name="Сервис Telegram-бота">
              <a:extLst>
                <a:ext uri="{FF2B5EF4-FFF2-40B4-BE49-F238E27FC236}">
                  <a16:creationId xmlns:a16="http://schemas.microsoft.com/office/drawing/2014/main" id="{841CC381-0A99-4353-7CB5-2C3C8025E739}"/>
                </a:ext>
              </a:extLst>
            </p:cNvPr>
            <p:cNvSpPr txBox="1"/>
            <p:nvPr/>
          </p:nvSpPr>
          <p:spPr>
            <a:xfrm>
              <a:off x="52069" y="-23431"/>
              <a:ext cx="8125461" cy="58477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3200" b="1"/>
              </a:lvl1pPr>
            </a:lstStyle>
            <a:p>
              <a:pPr marL="0" marR="0" indent="0" algn="l" defTabSz="9144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dirty="0"/>
                <a:t>Хранилище файлов</a:t>
              </a:r>
              <a:endParaRPr kumimoji="0" lang="en-AU" sz="320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endParaRPr>
            </a:p>
          </p:txBody>
        </p:sp>
      </p:grpSp>
      <p:sp>
        <p:nvSpPr>
          <p:cNvPr id="6" name="Right">
            <a:extLst>
              <a:ext uri="{FF2B5EF4-FFF2-40B4-BE49-F238E27FC236}">
                <a16:creationId xmlns:a16="http://schemas.microsoft.com/office/drawing/2014/main" id="{7D1227D9-3C16-3AA8-A49D-1BB9AD4D9547}"/>
              </a:ext>
            </a:extLst>
          </p:cNvPr>
          <p:cNvSpPr txBox="1"/>
          <p:nvPr/>
        </p:nvSpPr>
        <p:spPr>
          <a:xfrm>
            <a:off x="509269" y="2255314"/>
            <a:ext cx="6145531" cy="23473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tIns="91439" bIns="91439">
            <a:spAutoFit/>
          </a:bodyPr>
          <a:lstStyle/>
          <a:p>
            <a:pPr marL="342900" indent="-342900"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  <a:defRPr sz="2400"/>
            </a:pPr>
            <a:r>
              <a:rPr lang="ru-RU" dirty="0"/>
              <a:t>В системе можно хранить документы</a:t>
            </a:r>
          </a:p>
          <a:p>
            <a:pPr marL="342900" indent="-342900"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  <a:defRPr sz="2400"/>
            </a:pPr>
            <a:r>
              <a:rPr lang="ru-RU" dirty="0"/>
              <a:t>Дедупликация</a:t>
            </a:r>
          </a:p>
          <a:p>
            <a:pPr marL="342900" indent="-342900"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  <a:defRPr sz="2400"/>
            </a:pPr>
            <a:r>
              <a:rPr lang="ru-RU" dirty="0"/>
              <a:t>Каждый сервис имеет доступ к файлам</a:t>
            </a:r>
          </a:p>
          <a:p>
            <a:pPr marL="342900" indent="-342900"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  <a:defRPr sz="2400"/>
            </a:pPr>
            <a:endParaRPr lang="ru-RU" dirty="0"/>
          </a:p>
        </p:txBody>
      </p:sp>
      <p:pic>
        <p:nvPicPr>
          <p:cNvPr id="2050" name="Picture 2" descr="Облачное хранилище – Бесплатные иконки: файлы и папки">
            <a:extLst>
              <a:ext uri="{FF2B5EF4-FFF2-40B4-BE49-F238E27FC236}">
                <a16:creationId xmlns:a16="http://schemas.microsoft.com/office/drawing/2014/main" id="{BCE87238-D18F-65B5-2712-5CC11766FA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8758" y="2070706"/>
            <a:ext cx="2893392" cy="289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1779884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7" name="Title"/>
          <p:cNvGrpSpPr/>
          <p:nvPr/>
        </p:nvGrpSpPr>
        <p:grpSpPr>
          <a:xfrm>
            <a:off x="457200" y="261937"/>
            <a:ext cx="8229600" cy="574042"/>
            <a:chOff x="0" y="0"/>
            <a:chExt cx="8229600" cy="574040"/>
          </a:xfrm>
        </p:grpSpPr>
        <p:sp>
          <p:nvSpPr>
            <p:cNvPr id="225" name="Rectangle"/>
            <p:cNvSpPr/>
            <p:nvPr/>
          </p:nvSpPr>
          <p:spPr>
            <a:xfrm>
              <a:off x="0" y="12699"/>
              <a:ext cx="8229600" cy="548641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226" name="Пользовательское веб-приложение"/>
            <p:cNvSpPr txBox="1"/>
            <p:nvPr/>
          </p:nvSpPr>
          <p:spPr>
            <a:xfrm>
              <a:off x="52069" y="-1"/>
              <a:ext cx="8125461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3200" b="1"/>
              </a:lvl1pPr>
            </a:lstStyle>
            <a:p>
              <a:r>
                <a:t>Пользовательское веб-приложение</a:t>
              </a:r>
            </a:p>
          </p:txBody>
        </p:sp>
      </p:grpSp>
      <p:pic>
        <p:nvPicPr>
          <p:cNvPr id="228" name="Picture 5" descr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4959"/>
            <a:ext cx="4462980" cy="5618404"/>
          </a:xfrm>
          <a:prstGeom prst="rect">
            <a:avLst/>
          </a:prstGeom>
          <a:ln w="12700">
            <a:miter lim="400000"/>
          </a:ln>
        </p:spPr>
      </p:pic>
      <p:pic>
        <p:nvPicPr>
          <p:cNvPr id="229" name="Picture 6" descr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375" y="823278"/>
            <a:ext cx="5940425" cy="3898901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F8CCA99-F9C5-05CF-921A-F8DE03881F33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AU" smtClean="0"/>
              <a:t>14</a:t>
            </a:fld>
            <a:endParaRPr lang="en-AU"/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Title"/>
          <p:cNvGrpSpPr/>
          <p:nvPr/>
        </p:nvGrpSpPr>
        <p:grpSpPr>
          <a:xfrm>
            <a:off x="457200" y="256572"/>
            <a:ext cx="8229600" cy="584773"/>
            <a:chOff x="0" y="-18066"/>
            <a:chExt cx="8229600" cy="584772"/>
          </a:xfrm>
        </p:grpSpPr>
        <p:sp>
          <p:nvSpPr>
            <p:cNvPr id="231" name="Rectangle"/>
            <p:cNvSpPr/>
            <p:nvPr/>
          </p:nvSpPr>
          <p:spPr>
            <a:xfrm>
              <a:off x="0" y="-1"/>
              <a:ext cx="8229600" cy="548642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232" name="Административная панель"/>
            <p:cNvSpPr txBox="1"/>
            <p:nvPr/>
          </p:nvSpPr>
          <p:spPr>
            <a:xfrm>
              <a:off x="52069" y="-18066"/>
              <a:ext cx="8125461" cy="58477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2400" b="1"/>
              </a:lvl1pPr>
            </a:lstStyle>
            <a:p>
              <a:r>
                <a:rPr sz="3200" dirty="0" err="1"/>
                <a:t>Административная</a:t>
              </a:r>
              <a:r>
                <a:rPr sz="3200" dirty="0"/>
                <a:t> </a:t>
              </a:r>
              <a:r>
                <a:rPr sz="3200" dirty="0" err="1"/>
                <a:t>панель</a:t>
              </a:r>
              <a:endParaRPr sz="3200" dirty="0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91BD92-3E40-88C3-44DD-C3A3EB822C91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AU" smtClean="0"/>
              <a:t>15</a:t>
            </a:fld>
            <a:endParaRPr lang="en-A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261665-E199-11BC-0D08-F60CF0298A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72"/>
          <a:stretch/>
        </p:blipFill>
        <p:spPr>
          <a:xfrm>
            <a:off x="277217" y="1326012"/>
            <a:ext cx="5706576" cy="44024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01953D-3F3F-5E15-F40B-BF2CDF6046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151"/>
          <a:stretch/>
        </p:blipFill>
        <p:spPr>
          <a:xfrm>
            <a:off x="6208209" y="1326012"/>
            <a:ext cx="5706576" cy="4453736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9" name="Title"/>
          <p:cNvGrpSpPr/>
          <p:nvPr/>
        </p:nvGrpSpPr>
        <p:grpSpPr>
          <a:xfrm>
            <a:off x="457200" y="261937"/>
            <a:ext cx="8229600" cy="574042"/>
            <a:chOff x="0" y="0"/>
            <a:chExt cx="8229600" cy="574040"/>
          </a:xfrm>
        </p:grpSpPr>
        <p:sp>
          <p:nvSpPr>
            <p:cNvPr id="237" name="Rectangle"/>
            <p:cNvSpPr/>
            <p:nvPr/>
          </p:nvSpPr>
          <p:spPr>
            <a:xfrm>
              <a:off x="0" y="12699"/>
              <a:ext cx="8229600" cy="548641"/>
            </a:xfrm>
            <a:prstGeom prst="rect">
              <a:avLst/>
            </a:prstGeom>
            <a:noFill/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endParaRPr/>
            </a:p>
          </p:txBody>
        </p:sp>
        <p:sp>
          <p:nvSpPr>
            <p:cNvPr id="238" name="Заключение"/>
            <p:cNvSpPr txBox="1"/>
            <p:nvPr/>
          </p:nvSpPr>
          <p:spPr>
            <a:xfrm>
              <a:off x="52069" y="-1"/>
              <a:ext cx="8125461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>
                <a:defRPr sz="3200" b="1"/>
              </a:lvl1pPr>
            </a:lstStyle>
            <a:p>
              <a:r>
                <a:t>Заключение</a:t>
              </a:r>
            </a:p>
          </p:txBody>
        </p:sp>
      </p:grpSp>
      <p:sp>
        <p:nvSpPr>
          <p:cNvPr id="2" name="Goal">
            <a:extLst>
              <a:ext uri="{FF2B5EF4-FFF2-40B4-BE49-F238E27FC236}">
                <a16:creationId xmlns:a16="http://schemas.microsoft.com/office/drawing/2014/main" id="{A4F38585-41E1-D932-4758-255A2A78A408}"/>
              </a:ext>
            </a:extLst>
          </p:cNvPr>
          <p:cNvSpPr txBox="1"/>
          <p:nvPr/>
        </p:nvSpPr>
        <p:spPr>
          <a:xfrm>
            <a:off x="457200" y="2306420"/>
            <a:ext cx="10922000" cy="21544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tIns="91439" bIns="91439">
            <a:spAutoFit/>
          </a:bodyPr>
          <a:lstStyle>
            <a:lvl1pPr>
              <a:defRPr sz="2400"/>
            </a:lvl1pPr>
          </a:lstStyle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3200" dirty="0"/>
              <a:t>Была р</a:t>
            </a:r>
            <a:r>
              <a:rPr sz="3200" dirty="0" err="1"/>
              <a:t>азработа</a:t>
            </a:r>
            <a:r>
              <a:rPr lang="ru-RU" sz="3200" dirty="0"/>
              <a:t>на</a:t>
            </a:r>
            <a:r>
              <a:rPr sz="3200" dirty="0"/>
              <a:t> </a:t>
            </a:r>
            <a:r>
              <a:rPr sz="3200" dirty="0" err="1"/>
              <a:t>многоязычн</a:t>
            </a:r>
            <a:r>
              <a:rPr lang="ru-RU" sz="3200" dirty="0"/>
              <a:t>ая</a:t>
            </a:r>
            <a:r>
              <a:rPr sz="3200" dirty="0"/>
              <a:t> </a:t>
            </a:r>
            <a:r>
              <a:rPr sz="3200" dirty="0" err="1"/>
              <a:t>систем</a:t>
            </a:r>
            <a:r>
              <a:rPr lang="ru-RU" sz="3200" dirty="0"/>
              <a:t>а</a:t>
            </a:r>
            <a:r>
              <a:rPr sz="3200" dirty="0"/>
              <a:t> </a:t>
            </a:r>
            <a:r>
              <a:rPr sz="3200" dirty="0" err="1"/>
              <a:t>поддержки</a:t>
            </a:r>
            <a:r>
              <a:rPr sz="3200" dirty="0"/>
              <a:t> </a:t>
            </a:r>
            <a:r>
              <a:rPr sz="3200" dirty="0" err="1"/>
              <a:t>иностранных</a:t>
            </a:r>
            <a:r>
              <a:rPr sz="3200" dirty="0"/>
              <a:t> </a:t>
            </a:r>
            <a:r>
              <a:rPr sz="3200" dirty="0" err="1"/>
              <a:t>студентов</a:t>
            </a:r>
            <a:r>
              <a:rPr lang="ru-RU" sz="3200" dirty="0"/>
              <a:t>.</a:t>
            </a:r>
            <a:r>
              <a:rPr sz="3200" dirty="0"/>
              <a:t> </a:t>
            </a:r>
            <a:endParaRPr lang="ru-RU" sz="3200" dirty="0"/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3200" dirty="0"/>
              <a:t>Были созданы</a:t>
            </a:r>
            <a:r>
              <a:rPr sz="3200" dirty="0"/>
              <a:t> Telegram-</a:t>
            </a:r>
            <a:r>
              <a:rPr sz="3200" dirty="0" err="1"/>
              <a:t>бот</a:t>
            </a:r>
            <a:r>
              <a:rPr sz="3200" dirty="0"/>
              <a:t>, </a:t>
            </a:r>
            <a:r>
              <a:rPr sz="3200" dirty="0" err="1"/>
              <a:t>веб-приложение</a:t>
            </a:r>
            <a:r>
              <a:rPr sz="3200" dirty="0"/>
              <a:t> и </a:t>
            </a:r>
            <a:r>
              <a:rPr sz="3200" dirty="0" err="1"/>
              <a:t>административн</a:t>
            </a:r>
            <a:r>
              <a:rPr lang="ru-RU" sz="3200" dirty="0"/>
              <a:t>ая</a:t>
            </a:r>
            <a:r>
              <a:rPr sz="3200" dirty="0"/>
              <a:t> </a:t>
            </a:r>
            <a:r>
              <a:rPr sz="3200" dirty="0" err="1"/>
              <a:t>панель</a:t>
            </a:r>
            <a:r>
              <a:rPr lang="ru-RU" sz="3200" dirty="0"/>
              <a:t>.</a:t>
            </a:r>
            <a:endParaRPr sz="3200" dirty="0"/>
          </a:p>
        </p:txBody>
      </p:sp>
    </p:spTree>
    <p:extLst>
      <p:ext uri="{BB962C8B-B14F-4D97-AF65-F5344CB8AC3E}">
        <p14:creationId xmlns:p14="http://schemas.microsoft.com/office/powerpoint/2010/main" val="3190282310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2DD1FEB-0019-4BC1-A907-61CA536DA53B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1b902aec-cf76-4ca1-b822-c940fe1a51b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358</Words>
  <Application>Microsoft Office PowerPoint</Application>
  <PresentationFormat>Widescreen</PresentationFormat>
  <Paragraphs>89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Вениамин Гребенев</cp:lastModifiedBy>
  <cp:revision>3</cp:revision>
  <dcterms:modified xsi:type="dcterms:W3CDTF">2026-06-09T00:53:46Z</dcterms:modified>
</cp:coreProperties>
</file>