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4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3" name="Shape 1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5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6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UniText"/>
          <p:cNvSpPr txBox="1"/>
          <p:nvPr/>
        </p:nvSpPr>
        <p:spPr>
          <a:xfrm>
            <a:off x="0" y="348791"/>
            <a:ext cx="12192000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/>
          <a:p>
            <a:pPr algn="ctr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99">
                <a:latin typeface="+mj-lt"/>
                <a:ea typeface="+mj-ea"/>
                <a:cs typeface="+mj-cs"/>
                <a:sym typeface="Helvetica"/>
              </a:defRPr>
            </a:pPr>
            <a:r>
              <a:rPr sz="2000" dirty="0"/>
              <a:t>МИНОБРНАУКИ РОССИИ ФЕДЕРАЛЬНОЕ ГОСУДАРСТВЕННОЕ БЮДЖЕТНОЕ</a:t>
            </a:r>
          </a:p>
          <a:p>
            <a:pPr algn="ctr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99">
                <a:latin typeface="+mj-lt"/>
                <a:ea typeface="+mj-ea"/>
                <a:cs typeface="+mj-cs"/>
                <a:sym typeface="Helvetica"/>
              </a:defRPr>
            </a:pPr>
            <a:r>
              <a:rPr sz="2000" dirty="0"/>
              <a:t>ОБРАЗОВАТЕЛЬНОЕ УЧРЕЖДЕНИЕ ВЫСШЕГО ОБРАЗОВАНИЯ «ВОРОНЕЖСКИЙ</a:t>
            </a:r>
          </a:p>
          <a:p>
            <a:pPr algn="ctr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99">
                <a:latin typeface="+mj-lt"/>
                <a:ea typeface="+mj-ea"/>
                <a:cs typeface="+mj-cs"/>
                <a:sym typeface="Helvetica"/>
              </a:defRPr>
            </a:pPr>
            <a:r>
              <a:rPr sz="2000" dirty="0"/>
              <a:t>ГОСУДАРСТВЕННЫЙ УНИВЕРСИТЕТ» (ФГБОУ ВО «ВГУ»)</a:t>
            </a:r>
          </a:p>
        </p:txBody>
      </p:sp>
      <p:sp>
        <p:nvSpPr>
          <p:cNvPr id="176" name="Title"/>
          <p:cNvSpPr txBox="1"/>
          <p:nvPr/>
        </p:nvSpPr>
        <p:spPr>
          <a:xfrm>
            <a:off x="2304161" y="3007088"/>
            <a:ext cx="8138161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600"/>
            </a:lvl1pPr>
          </a:lstStyle>
          <a:p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помощи</a:t>
            </a:r>
            <a:r>
              <a:rPr dirty="0"/>
              <a:t> </a:t>
            </a:r>
            <a:r>
              <a:rPr dirty="0" err="1"/>
              <a:t>иностранным</a:t>
            </a:r>
            <a:r>
              <a:rPr dirty="0"/>
              <a:t> </a:t>
            </a:r>
            <a:r>
              <a:rPr dirty="0" err="1"/>
              <a:t>студентам</a:t>
            </a:r>
            <a:endParaRPr dirty="0"/>
          </a:p>
        </p:txBody>
      </p:sp>
      <p:sp>
        <p:nvSpPr>
          <p:cNvPr id="177" name="Discipline"/>
          <p:cNvSpPr txBox="1"/>
          <p:nvPr/>
        </p:nvSpPr>
        <p:spPr>
          <a:xfrm>
            <a:off x="1018665" y="1729339"/>
            <a:ext cx="10600781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99">
                <a:latin typeface="+mj-lt"/>
                <a:ea typeface="+mj-ea"/>
                <a:cs typeface="+mj-cs"/>
                <a:sym typeface="Helvetica"/>
              </a:defRPr>
            </a:pPr>
            <a:r>
              <a:rPr sz="2000" dirty="0" err="1"/>
              <a:t>Факультет</a:t>
            </a:r>
            <a:r>
              <a:rPr sz="2000" dirty="0"/>
              <a:t> </a:t>
            </a:r>
            <a:r>
              <a:rPr sz="2000" dirty="0" err="1"/>
              <a:t>компьютерных</a:t>
            </a:r>
            <a:r>
              <a:rPr sz="2000" dirty="0"/>
              <a:t> </a:t>
            </a:r>
            <a:r>
              <a:rPr sz="2000" dirty="0" err="1"/>
              <a:t>наук</a:t>
            </a:r>
            <a:endParaRPr sz="2000" dirty="0"/>
          </a:p>
          <a:p>
            <a:pPr algn="ctr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99">
                <a:latin typeface="+mj-lt"/>
                <a:ea typeface="+mj-ea"/>
                <a:cs typeface="+mj-cs"/>
                <a:sym typeface="Helvetica"/>
              </a:defRPr>
            </a:pPr>
            <a:r>
              <a:rPr sz="2000" dirty="0" err="1"/>
              <a:t>Кафедра</a:t>
            </a:r>
            <a:r>
              <a:rPr sz="2000" dirty="0"/>
              <a:t> </a:t>
            </a:r>
            <a:r>
              <a:rPr sz="2000" dirty="0" err="1"/>
              <a:t>программирования</a:t>
            </a:r>
            <a:r>
              <a:rPr sz="2000" dirty="0"/>
              <a:t> и </a:t>
            </a:r>
            <a:r>
              <a:rPr sz="2000" dirty="0" err="1"/>
              <a:t>информационных</a:t>
            </a:r>
            <a:r>
              <a:rPr sz="2000" dirty="0"/>
              <a:t> </a:t>
            </a:r>
            <a:r>
              <a:rPr sz="2000" dirty="0" err="1"/>
              <a:t>технологий</a:t>
            </a:r>
            <a:endParaRPr sz="2000" dirty="0"/>
          </a:p>
        </p:txBody>
      </p:sp>
      <p:sp>
        <p:nvSpPr>
          <p:cNvPr id="178" name="Authors"/>
          <p:cNvSpPr txBox="1"/>
          <p:nvPr/>
        </p:nvSpPr>
        <p:spPr>
          <a:xfrm>
            <a:off x="4017614" y="5833363"/>
            <a:ext cx="8138161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latin typeface="+mj-lt"/>
                <a:ea typeface="+mj-ea"/>
                <a:cs typeface="+mj-cs"/>
                <a:sym typeface="Helvetica"/>
              </a:defRPr>
            </a:pPr>
            <a:r>
              <a:rPr dirty="0" err="1"/>
              <a:t>Консультант</a:t>
            </a:r>
            <a:r>
              <a:rPr dirty="0"/>
              <a:t>: </a:t>
            </a:r>
            <a:r>
              <a:rPr dirty="0" err="1"/>
              <a:t>Ушаков</a:t>
            </a:r>
            <a:r>
              <a:rPr dirty="0"/>
              <a:t> В.А.</a:t>
            </a:r>
          </a:p>
          <a:p>
            <a:pPr algn="r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latin typeface="+mj-lt"/>
                <a:ea typeface="+mj-ea"/>
                <a:cs typeface="+mj-cs"/>
                <a:sym typeface="Helvetica"/>
              </a:defRPr>
            </a:pPr>
            <a:r>
              <a:rPr dirty="0" err="1"/>
              <a:t>Выполнил</a:t>
            </a:r>
            <a:r>
              <a:rPr lang="ru-RU" dirty="0"/>
              <a:t>: Гребенев В. </a:t>
            </a:r>
            <a:r>
              <a:rPr lang="ru-RU"/>
              <a:t>А.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Title"/>
          <p:cNvGrpSpPr/>
          <p:nvPr/>
        </p:nvGrpSpPr>
        <p:grpSpPr>
          <a:xfrm>
            <a:off x="457200" y="261937"/>
            <a:ext cx="11053482" cy="574042"/>
            <a:chOff x="0" y="0"/>
            <a:chExt cx="11053481" cy="574040"/>
          </a:xfrm>
        </p:grpSpPr>
        <p:sp>
          <p:nvSpPr>
            <p:cNvPr id="180" name="Rectangle"/>
            <p:cNvSpPr/>
            <p:nvPr/>
          </p:nvSpPr>
          <p:spPr>
            <a:xfrm>
              <a:off x="0" y="12699"/>
              <a:ext cx="11053482" cy="548641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81" name="Введение"/>
            <p:cNvSpPr txBox="1"/>
            <p:nvPr/>
          </p:nvSpPr>
          <p:spPr>
            <a:xfrm>
              <a:off x="52069" y="-1"/>
              <a:ext cx="10949343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3200" b="1"/>
              </a:lvl1pPr>
            </a:lstStyle>
            <a:p>
              <a:r>
                <a:t>Введение</a:t>
              </a:r>
            </a:p>
          </p:txBody>
        </p:sp>
      </p:grpSp>
      <p:sp>
        <p:nvSpPr>
          <p:cNvPr id="183" name="Content"/>
          <p:cNvSpPr txBox="1"/>
          <p:nvPr/>
        </p:nvSpPr>
        <p:spPr>
          <a:xfrm>
            <a:off x="457199" y="1668928"/>
            <a:ext cx="5277972" cy="2316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2000"/>
            </a:pPr>
            <a:r>
              <a:t>Количество иностранных студентов в российских университетах постоянно растёт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2000"/>
            </a:pPr>
            <a:r>
              <a:t>Иностранные студенты сталкиваются с вопросами об учёбе</a:t>
            </a:r>
          </a:p>
        </p:txBody>
      </p:sp>
      <p:pic>
        <p:nvPicPr>
          <p:cNvPr id="184" name="Picture 2" descr="Picture 2"/>
          <p:cNvPicPr>
            <a:picLocks noChangeAspect="1"/>
          </p:cNvPicPr>
          <p:nvPr/>
        </p:nvPicPr>
        <p:blipFill>
          <a:blip r:embed="rId2"/>
          <a:srcRect b="12783"/>
          <a:stretch>
            <a:fillRect/>
          </a:stretch>
        </p:blipFill>
        <p:spPr>
          <a:xfrm>
            <a:off x="5735170" y="1668928"/>
            <a:ext cx="6311154" cy="36695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Title"/>
          <p:cNvGrpSpPr/>
          <p:nvPr/>
        </p:nvGrpSpPr>
        <p:grpSpPr>
          <a:xfrm>
            <a:off x="457200" y="261937"/>
            <a:ext cx="8229600" cy="574042"/>
            <a:chOff x="0" y="0"/>
            <a:chExt cx="8229600" cy="574040"/>
          </a:xfrm>
        </p:grpSpPr>
        <p:sp>
          <p:nvSpPr>
            <p:cNvPr id="186" name="Rectangle"/>
            <p:cNvSpPr/>
            <p:nvPr/>
          </p:nvSpPr>
          <p:spPr>
            <a:xfrm>
              <a:off x="0" y="12699"/>
              <a:ext cx="8229600" cy="548641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87" name="Цель и задачи"/>
            <p:cNvSpPr txBox="1"/>
            <p:nvPr/>
          </p:nvSpPr>
          <p:spPr>
            <a:xfrm>
              <a:off x="52069" y="-1"/>
              <a:ext cx="8125461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3200" b="1"/>
              </a:lvl1pPr>
            </a:lstStyle>
            <a:p>
              <a:r>
                <a:t>Цель и задачи</a:t>
              </a:r>
            </a:p>
          </p:txBody>
        </p:sp>
      </p:grpSp>
      <p:sp>
        <p:nvSpPr>
          <p:cNvPr id="189" name="Goal"/>
          <p:cNvSpPr txBox="1"/>
          <p:nvPr/>
        </p:nvSpPr>
        <p:spPr>
          <a:xfrm>
            <a:off x="813546" y="3018864"/>
            <a:ext cx="10564908" cy="1287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>
              <a:defRPr sz="2400"/>
            </a:lvl1pPr>
          </a:lstStyle>
          <a:p>
            <a:r>
              <a:rPr dirty="0" err="1"/>
              <a:t>Разработать</a:t>
            </a:r>
            <a:r>
              <a:rPr dirty="0"/>
              <a:t> </a:t>
            </a:r>
            <a:r>
              <a:rPr dirty="0" err="1"/>
              <a:t>многоязычную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dirty="0"/>
              <a:t> </a:t>
            </a:r>
            <a:r>
              <a:rPr dirty="0" err="1"/>
              <a:t>иностранных</a:t>
            </a:r>
            <a:r>
              <a:rPr dirty="0"/>
              <a:t> </a:t>
            </a:r>
            <a:r>
              <a:rPr dirty="0" err="1"/>
              <a:t>студентов</a:t>
            </a:r>
            <a:r>
              <a:rPr dirty="0"/>
              <a:t>, </a:t>
            </a:r>
            <a:r>
              <a:rPr dirty="0" err="1"/>
              <a:t>включающую</a:t>
            </a:r>
            <a:r>
              <a:rPr dirty="0"/>
              <a:t> Telegram-</a:t>
            </a:r>
            <a:r>
              <a:rPr dirty="0" err="1"/>
              <a:t>бота</a:t>
            </a:r>
            <a:r>
              <a:rPr dirty="0"/>
              <a:t>, </a:t>
            </a:r>
            <a:r>
              <a:rPr dirty="0" err="1"/>
              <a:t>веб-приложение</a:t>
            </a:r>
            <a:r>
              <a:rPr dirty="0"/>
              <a:t> и </a:t>
            </a:r>
            <a:r>
              <a:rPr dirty="0" err="1"/>
              <a:t>административную</a:t>
            </a:r>
            <a:r>
              <a:rPr dirty="0"/>
              <a:t> </a:t>
            </a:r>
            <a:r>
              <a:rPr dirty="0" err="1"/>
              <a:t>панель</a:t>
            </a: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itleText"/>
          <p:cNvSpPr>
            <a:spLocks noGrp="1"/>
          </p:cNvSpPr>
          <p:nvPr/>
        </p:nvSpPr>
        <p:spPr>
          <a:xfrm>
            <a:off x="457200" y="2032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/>
          <a:lstStyle/>
          <a:p>
            <a:pPr>
              <a:defRPr sz="2400" b="1">
                <a:solidFill>
                  <a:srgbClr val="1F1F1F"/>
                </a:solidFill>
              </a:defRPr>
            </a:pPr>
            <a:r>
              <a:rPr lang="ru-RU" sz="3200" b="1" dirty="0">
                <a:solidFill>
                  <a:srgbClr val="1F1F1F"/>
                </a:solidFill>
              </a:rPr>
              <a:t>Анализ аналогов — Russia_on_board</a:t>
            </a:r>
          </a:p>
        </p:txBody>
      </p:sp>
      <p:sp>
        <p:nvSpPr>
          <p:cNvPr id="305" name="DisadvHeader"/>
          <p:cNvSpPr>
            <a:spLocks noGrp="1"/>
          </p:cNvSpPr>
          <p:nvPr/>
        </p:nvSpPr>
        <p:spPr>
          <a:xfrm>
            <a:off x="457200" y="2195843"/>
            <a:ext cx="7366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91440" rIns="91440" bIns="91440" anchor="t"/>
          <a:lstStyle/>
          <a:p>
            <a:pPr>
              <a:defRPr sz="1600" b="1"/>
            </a:pPr>
            <a:r>
              <a:rPr lang="ru-RU" sz="2400" b="1" dirty="0">
                <a:solidFill>
                  <a:schemeClr val="tx1"/>
                </a:solidFill>
              </a:rPr>
              <a:t>Выявленные недостатки</a:t>
            </a:r>
          </a:p>
        </p:txBody>
      </p:sp>
      <p:sp>
        <p:nvSpPr>
          <p:cNvPr id="306" name="DisadvList"/>
          <p:cNvSpPr>
            <a:spLocks noGrp="1"/>
          </p:cNvSpPr>
          <p:nvPr/>
        </p:nvSpPr>
        <p:spPr>
          <a:xfrm>
            <a:off x="457200" y="2653043"/>
            <a:ext cx="6004560" cy="30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91440" rIns="91440" bIns="91440" anchor="t"/>
          <a:lstStyle/>
          <a:p>
            <a:pPr marL="342900" indent="-342900">
              <a:buFont typeface="Arial" panose="020B0604020202020204" pitchFamily="34" charset="0"/>
              <a:buChar char="•"/>
              <a:defRPr sz="1500"/>
            </a:pPr>
            <a:r>
              <a:rPr lang="ru-RU" sz="2400" dirty="0">
                <a:solidFill>
                  <a:srgbClr val="1F1F1F"/>
                </a:solidFill>
              </a:rPr>
              <a:t>Платная модель — ограничивает доступность для студентов</a:t>
            </a:r>
          </a:p>
          <a:p>
            <a:pPr marL="342900" indent="-342900">
              <a:buFont typeface="Arial" panose="020B0604020202020204" pitchFamily="34" charset="0"/>
              <a:buChar char="•"/>
              <a:defRPr sz="1500"/>
            </a:pPr>
            <a:r>
              <a:rPr lang="ru-RU" sz="2400" dirty="0">
                <a:solidFill>
                  <a:srgbClr val="1F1F1F"/>
                </a:solidFill>
              </a:rPr>
              <a:t>Бот не функционирует на момент написания работы</a:t>
            </a:r>
          </a:p>
          <a:p>
            <a:pPr marL="342900" indent="-342900">
              <a:buFont typeface="Arial" panose="020B0604020202020204" pitchFamily="34" charset="0"/>
              <a:buChar char="•"/>
              <a:defRPr sz="1500"/>
            </a:pPr>
            <a:r>
              <a:rPr lang="ru-RU" sz="2400" dirty="0">
                <a:solidFill>
                  <a:srgbClr val="1F1F1F"/>
                </a:solidFill>
              </a:rPr>
              <a:t>Только Telegram — нет веб-интерфейса, снижает охват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74CA4B-038B-D9E5-F5E9-AFE8217E0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266" y="1075677"/>
            <a:ext cx="5519534" cy="492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6880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Title"/>
          <p:cNvGrpSpPr/>
          <p:nvPr/>
        </p:nvGrpSpPr>
        <p:grpSpPr>
          <a:xfrm>
            <a:off x="457200" y="261937"/>
            <a:ext cx="8229600" cy="574042"/>
            <a:chOff x="0" y="0"/>
            <a:chExt cx="8229600" cy="574040"/>
          </a:xfrm>
        </p:grpSpPr>
        <p:sp>
          <p:nvSpPr>
            <p:cNvPr id="191" name="Rectangle"/>
            <p:cNvSpPr/>
            <p:nvPr/>
          </p:nvSpPr>
          <p:spPr>
            <a:xfrm>
              <a:off x="0" y="12699"/>
              <a:ext cx="8229600" cy="548641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92" name="Технологический стек"/>
            <p:cNvSpPr txBox="1"/>
            <p:nvPr/>
          </p:nvSpPr>
          <p:spPr>
            <a:xfrm>
              <a:off x="52069" y="-1"/>
              <a:ext cx="8125461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3200" b="1"/>
              </a:lvl1pPr>
            </a:lstStyle>
            <a:p>
              <a:r>
                <a:t>Технологический стек</a:t>
              </a:r>
            </a:p>
          </p:txBody>
        </p:sp>
      </p:grpSp>
      <p:sp>
        <p:nvSpPr>
          <p:cNvPr id="194" name="ColLeft"/>
          <p:cNvSpPr txBox="1"/>
          <p:nvPr/>
        </p:nvSpPr>
        <p:spPr>
          <a:xfrm>
            <a:off x="457200" y="914400"/>
            <a:ext cx="3962400" cy="5339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defRPr sz="2400" b="1"/>
            </a:pPr>
            <a:r>
              <a:t>Бэкенд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Java 21 + Spring Boot 3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Spring Cloud Gateway (API Gateway)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Spring MVC (Core Service)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Telegram Bot API (tg-bot-service)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JWT-аутентификация</a:t>
            </a:r>
          </a:p>
          <a:p>
            <a:pPr>
              <a:defRPr sz="2400" b="1"/>
            </a:pPr>
            <a:r>
              <a:t>Хранение данных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MongoDB (основная база данных)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Redis (сессии бота, кеш)</a:t>
            </a:r>
          </a:p>
        </p:txBody>
      </p:sp>
      <p:sp>
        <p:nvSpPr>
          <p:cNvPr id="195" name="ColRight"/>
          <p:cNvSpPr txBox="1"/>
          <p:nvPr/>
        </p:nvSpPr>
        <p:spPr>
          <a:xfrm>
            <a:off x="7772402" y="914400"/>
            <a:ext cx="3962401" cy="4234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defRPr sz="2400" b="1"/>
            </a:pPr>
            <a:r>
              <a:t>Фронтенд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React 19 + TypeScript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Vite (сборщик)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Tiptap 3 (rich-text редактор)</a:t>
            </a:r>
          </a:p>
          <a:p>
            <a:pPr>
              <a:defRPr sz="2400" b="1"/>
            </a:pPr>
            <a:r>
              <a:t>Инфраструктура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Docker + Docker Compose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IBM Semeru Runtimes (OpenJ9 JVM)</a:t>
            </a:r>
          </a:p>
          <a:p>
            <a:pPr marL="228600" indent="-228600">
              <a:buSzPct val="100000"/>
              <a:buChar char="—"/>
              <a:defRPr sz="2400"/>
            </a:pPr>
            <a:r>
              <a:t>Gradle 9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Title"/>
          <p:cNvGrpSpPr/>
          <p:nvPr/>
        </p:nvGrpSpPr>
        <p:grpSpPr>
          <a:xfrm>
            <a:off x="457200" y="261937"/>
            <a:ext cx="8229600" cy="574042"/>
            <a:chOff x="0" y="0"/>
            <a:chExt cx="8229600" cy="574040"/>
          </a:xfrm>
        </p:grpSpPr>
        <p:sp>
          <p:nvSpPr>
            <p:cNvPr id="197" name="Rectangle"/>
            <p:cNvSpPr/>
            <p:nvPr/>
          </p:nvSpPr>
          <p:spPr>
            <a:xfrm>
              <a:off x="0" y="12699"/>
              <a:ext cx="8229600" cy="548641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98" name="Архитектура системы"/>
            <p:cNvSpPr txBox="1"/>
            <p:nvPr/>
          </p:nvSpPr>
          <p:spPr>
            <a:xfrm>
              <a:off x="52069" y="-1"/>
              <a:ext cx="8125461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3200" b="1"/>
              </a:lvl1pPr>
            </a:lstStyle>
            <a:p>
              <a:r>
                <a:t>Архитектура системы</a:t>
              </a:r>
            </a:p>
          </p:txBody>
        </p:sp>
      </p:grpSp>
      <p:pic>
        <p:nvPicPr>
          <p:cNvPr id="2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61" y="1323135"/>
            <a:ext cx="10346078" cy="45801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Title"/>
          <p:cNvGrpSpPr/>
          <p:nvPr/>
        </p:nvGrpSpPr>
        <p:grpSpPr>
          <a:xfrm>
            <a:off x="457200" y="261937"/>
            <a:ext cx="8229600" cy="574042"/>
            <a:chOff x="0" y="0"/>
            <a:chExt cx="8229600" cy="574040"/>
          </a:xfrm>
        </p:grpSpPr>
        <p:sp>
          <p:nvSpPr>
            <p:cNvPr id="202" name="Rectangle"/>
            <p:cNvSpPr/>
            <p:nvPr/>
          </p:nvSpPr>
          <p:spPr>
            <a:xfrm>
              <a:off x="0" y="12699"/>
              <a:ext cx="8229600" cy="548641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03" name="Модель данных (MongoDB)"/>
            <p:cNvSpPr txBox="1"/>
            <p:nvPr/>
          </p:nvSpPr>
          <p:spPr>
            <a:xfrm>
              <a:off x="52069" y="-1"/>
              <a:ext cx="8125461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3200" b="1"/>
              </a:lvl1pPr>
            </a:lstStyle>
            <a:p>
              <a:r>
                <a:t>Модель данных (MongoDB)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D2B349B-4107-C597-514E-C33052AE5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63" y="1301009"/>
            <a:ext cx="10084274" cy="489659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Title"/>
          <p:cNvGrpSpPr/>
          <p:nvPr/>
        </p:nvGrpSpPr>
        <p:grpSpPr>
          <a:xfrm>
            <a:off x="457200" y="261937"/>
            <a:ext cx="8229600" cy="574042"/>
            <a:chOff x="0" y="0"/>
            <a:chExt cx="8229600" cy="574040"/>
          </a:xfrm>
        </p:grpSpPr>
        <p:sp>
          <p:nvSpPr>
            <p:cNvPr id="207" name="Rectangle"/>
            <p:cNvSpPr/>
            <p:nvPr/>
          </p:nvSpPr>
          <p:spPr>
            <a:xfrm>
              <a:off x="0" y="12699"/>
              <a:ext cx="8229600" cy="548641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08" name="API Gateway"/>
            <p:cNvSpPr txBox="1"/>
            <p:nvPr/>
          </p:nvSpPr>
          <p:spPr>
            <a:xfrm>
              <a:off x="52069" y="-1"/>
              <a:ext cx="8125461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3200" b="1"/>
              </a:lvl1pPr>
            </a:lstStyle>
            <a:p>
              <a:r>
                <a:t>API Gateway</a:t>
              </a:r>
            </a:p>
          </p:txBody>
        </p:sp>
      </p:grpSp>
      <p:sp>
        <p:nvSpPr>
          <p:cNvPr id="210" name="Left"/>
          <p:cNvSpPr txBox="1"/>
          <p:nvPr/>
        </p:nvSpPr>
        <p:spPr>
          <a:xfrm>
            <a:off x="457199" y="1532963"/>
            <a:ext cx="5244355" cy="3313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2400"/>
            </a:pPr>
            <a:r>
              <a:t>Единая точка входа для всех запросов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2400"/>
            </a:pPr>
            <a:r>
              <a:t>Фильтр AuthorizationHeaderFilter для админ-эндпоинтов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2400"/>
            </a:pPr>
            <a:r>
              <a:t>Маршруты: /api/** защищен, /admin, /app, /bot — публичны</a:t>
            </a:r>
          </a:p>
        </p:txBody>
      </p:sp>
      <p:pic>
        <p:nvPicPr>
          <p:cNvPr id="21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392" y="867894"/>
            <a:ext cx="5122210" cy="51222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Title"/>
          <p:cNvGrpSpPr/>
          <p:nvPr/>
        </p:nvGrpSpPr>
        <p:grpSpPr>
          <a:xfrm>
            <a:off x="457200" y="261937"/>
            <a:ext cx="8229600" cy="574042"/>
            <a:chOff x="0" y="0"/>
            <a:chExt cx="8229600" cy="574040"/>
          </a:xfrm>
        </p:grpSpPr>
        <p:sp>
          <p:nvSpPr>
            <p:cNvPr id="213" name="Rectangle"/>
            <p:cNvSpPr/>
            <p:nvPr/>
          </p:nvSpPr>
          <p:spPr>
            <a:xfrm>
              <a:off x="0" y="12699"/>
              <a:ext cx="8229600" cy="548641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14" name="Core Service"/>
            <p:cNvSpPr txBox="1"/>
            <p:nvPr/>
          </p:nvSpPr>
          <p:spPr>
            <a:xfrm>
              <a:off x="52069" y="-1"/>
              <a:ext cx="8125461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3200" b="1"/>
              </a:lvl1pPr>
            </a:lstStyle>
            <a:p>
              <a:r>
                <a:t>Core Service</a:t>
              </a:r>
            </a:p>
          </p:txBody>
        </p:sp>
      </p:grpSp>
      <p:sp>
        <p:nvSpPr>
          <p:cNvPr id="216" name="Right"/>
          <p:cNvSpPr txBox="1"/>
          <p:nvPr/>
        </p:nvSpPr>
        <p:spPr>
          <a:xfrm>
            <a:off x="457199" y="1798542"/>
            <a:ext cx="5156949" cy="2760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Font typeface="Arial"/>
              <a:buChar char="•"/>
              <a:defRPr sz="2400"/>
            </a:pPr>
            <a:r>
              <a:rPr dirty="0" err="1"/>
              <a:t>Центральный</a:t>
            </a:r>
            <a:r>
              <a:rPr dirty="0"/>
              <a:t> </a:t>
            </a:r>
            <a:r>
              <a:rPr dirty="0" err="1"/>
              <a:t>компонент</a:t>
            </a:r>
            <a:endParaRPr dirty="0"/>
          </a:p>
          <a:p>
            <a:pPr marL="342900" indent="-342900">
              <a:lnSpc>
                <a:spcPct val="150000"/>
              </a:lnSpc>
              <a:buSzPct val="100000"/>
              <a:buFont typeface="Arial"/>
              <a:buChar char="•"/>
              <a:defRPr sz="2400"/>
            </a:pPr>
            <a:r>
              <a:rPr dirty="0" err="1"/>
              <a:t>чтение</a:t>
            </a:r>
            <a:r>
              <a:rPr dirty="0"/>
              <a:t> </a:t>
            </a:r>
            <a:r>
              <a:rPr dirty="0" err="1"/>
              <a:t>групп</a:t>
            </a:r>
            <a:r>
              <a:rPr dirty="0"/>
              <a:t>, </a:t>
            </a:r>
            <a:r>
              <a:rPr dirty="0" err="1"/>
              <a:t>вопросов</a:t>
            </a:r>
            <a:r>
              <a:rPr dirty="0"/>
              <a:t>, </a:t>
            </a:r>
            <a:r>
              <a:rPr dirty="0" err="1"/>
              <a:t>файлов</a:t>
            </a:r>
            <a:endParaRPr dirty="0"/>
          </a:p>
          <a:p>
            <a:pPr marL="342900" indent="-342900">
              <a:lnSpc>
                <a:spcPct val="150000"/>
              </a:lnSpc>
              <a:buSzPct val="100000"/>
              <a:buFont typeface="Arial"/>
              <a:buChar char="•"/>
              <a:defRPr sz="2400"/>
            </a:pPr>
            <a:r>
              <a:rPr dirty="0"/>
              <a:t>CRUD </a:t>
            </a:r>
            <a:r>
              <a:rPr dirty="0" err="1"/>
              <a:t>разделов</a:t>
            </a:r>
            <a:r>
              <a:rPr dirty="0"/>
              <a:t>, </a:t>
            </a:r>
            <a:r>
              <a:rPr dirty="0" err="1"/>
              <a:t>вопросов</a:t>
            </a:r>
            <a:r>
              <a:rPr dirty="0"/>
              <a:t>, </a:t>
            </a:r>
            <a:r>
              <a:rPr dirty="0" err="1"/>
              <a:t>языков</a:t>
            </a:r>
            <a:r>
              <a:rPr dirty="0"/>
              <a:t>, </a:t>
            </a:r>
            <a:r>
              <a:rPr dirty="0" err="1"/>
              <a:t>статистика</a:t>
            </a:r>
            <a:endParaRPr dirty="0"/>
          </a:p>
        </p:txBody>
      </p:sp>
      <p:pic>
        <p:nvPicPr>
          <p:cNvPr id="217" name="Picture 2" descr="Picture 2"/>
          <p:cNvPicPr>
            <a:picLocks noChangeAspect="1"/>
          </p:cNvPicPr>
          <p:nvPr/>
        </p:nvPicPr>
        <p:blipFill>
          <a:blip r:embed="rId2"/>
          <a:srcRect t="6432" b="11659"/>
          <a:stretch>
            <a:fillRect/>
          </a:stretch>
        </p:blipFill>
        <p:spPr>
          <a:xfrm>
            <a:off x="5460106" y="1723387"/>
            <a:ext cx="6349247" cy="29112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Title"/>
          <p:cNvGrpSpPr/>
          <p:nvPr/>
        </p:nvGrpSpPr>
        <p:grpSpPr>
          <a:xfrm>
            <a:off x="457200" y="261937"/>
            <a:ext cx="8229600" cy="574042"/>
            <a:chOff x="0" y="0"/>
            <a:chExt cx="8229600" cy="574040"/>
          </a:xfrm>
        </p:grpSpPr>
        <p:sp>
          <p:nvSpPr>
            <p:cNvPr id="219" name="Rectangle"/>
            <p:cNvSpPr/>
            <p:nvPr/>
          </p:nvSpPr>
          <p:spPr>
            <a:xfrm>
              <a:off x="0" y="12699"/>
              <a:ext cx="8229600" cy="548641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20" name="Сервис Telegram-бота"/>
            <p:cNvSpPr txBox="1"/>
            <p:nvPr/>
          </p:nvSpPr>
          <p:spPr>
            <a:xfrm>
              <a:off x="52069" y="-1"/>
              <a:ext cx="8125461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3200" b="1"/>
              </a:lvl1pPr>
            </a:lstStyle>
            <a:p>
              <a:r>
                <a:t>Сервис Telegram-бота</a:t>
              </a:r>
            </a:p>
          </p:txBody>
        </p:sp>
      </p:grpSp>
      <p:sp>
        <p:nvSpPr>
          <p:cNvPr id="222" name="Left"/>
          <p:cNvSpPr txBox="1"/>
          <p:nvPr/>
        </p:nvSpPr>
        <p:spPr>
          <a:xfrm>
            <a:off x="457199" y="1364876"/>
            <a:ext cx="5331761" cy="445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defRPr sz="2000" b="1"/>
            </a:pPr>
            <a:r>
              <a:t>Группы состояний botState:</a:t>
            </a:r>
          </a:p>
          <a:p>
            <a:pPr>
              <a:defRPr sz="2000" b="1"/>
            </a:pPr>
            <a:r>
              <a:t>LISTEN</a:t>
            </a:r>
            <a:r>
              <a:rPr b="0"/>
              <a:t>: ожидание ответа пользователя</a:t>
            </a:r>
          </a:p>
          <a:p>
            <a:pPr>
              <a:defRPr sz="2000" b="1"/>
            </a:pPr>
            <a:r>
              <a:t>ANSWER</a:t>
            </a:r>
            <a:r>
              <a:rPr b="0"/>
              <a:t>: отправка сообщения пользователю</a:t>
            </a:r>
          </a:p>
          <a:p>
            <a:pPr>
              <a:defRPr sz="2000" b="1"/>
            </a:pPr>
            <a:r>
              <a:t>DELETE</a:t>
            </a:r>
            <a:r>
              <a:rPr b="0"/>
              <a:t>: удаление старого сообщения</a:t>
            </a:r>
          </a:p>
          <a:p>
            <a:pPr>
              <a:defRPr sz="2000"/>
            </a:pPr>
            <a:endParaRPr b="0"/>
          </a:p>
          <a:p>
            <a:pPr>
              <a:defRPr sz="2000" b="1"/>
            </a:pPr>
            <a:r>
              <a:t>Группа MessageState</a:t>
            </a:r>
          </a:p>
          <a:p>
            <a:pPr>
              <a:defRPr sz="2000"/>
            </a:pPr>
            <a:r>
              <a:t>Определяет тип передаваемого/ожидаемого сообщения</a:t>
            </a:r>
          </a:p>
          <a:p>
            <a:pPr>
              <a:defRPr sz="2000" b="1"/>
            </a:pPr>
            <a:endParaRPr/>
          </a:p>
          <a:p>
            <a:pPr>
              <a:defRPr sz="2000" b="1"/>
            </a:pPr>
            <a:r>
              <a:t>Глобальные состояния (MainMenuState):</a:t>
            </a:r>
          </a:p>
          <a:p>
            <a:pPr>
              <a:defRPr sz="2000"/>
            </a:pPr>
            <a:r>
              <a:t>Обрабатываются всегда: возврат в главное меню, смена языка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A0C273-AC01-7D17-DD25-C6B55878A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165" y="532996"/>
            <a:ext cx="3715268" cy="579200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Title"/>
          <p:cNvGrpSpPr/>
          <p:nvPr/>
        </p:nvGrpSpPr>
        <p:grpSpPr>
          <a:xfrm>
            <a:off x="457200" y="261937"/>
            <a:ext cx="8229600" cy="574042"/>
            <a:chOff x="0" y="0"/>
            <a:chExt cx="8229600" cy="574040"/>
          </a:xfrm>
        </p:grpSpPr>
        <p:sp>
          <p:nvSpPr>
            <p:cNvPr id="225" name="Rectangle"/>
            <p:cNvSpPr/>
            <p:nvPr/>
          </p:nvSpPr>
          <p:spPr>
            <a:xfrm>
              <a:off x="0" y="12699"/>
              <a:ext cx="8229600" cy="548641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26" name="Пользовательское веб-приложение"/>
            <p:cNvSpPr txBox="1"/>
            <p:nvPr/>
          </p:nvSpPr>
          <p:spPr>
            <a:xfrm>
              <a:off x="52069" y="-1"/>
              <a:ext cx="8125461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3200" b="1"/>
              </a:lvl1pPr>
            </a:lstStyle>
            <a:p>
              <a:r>
                <a:t>Пользовательское веб-приложение</a:t>
              </a:r>
            </a:p>
          </p:txBody>
        </p:sp>
      </p:grpSp>
      <p:pic>
        <p:nvPicPr>
          <p:cNvPr id="228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4959"/>
            <a:ext cx="4462980" cy="561840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375" y="823278"/>
            <a:ext cx="5940425" cy="3898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Title"/>
          <p:cNvGrpSpPr/>
          <p:nvPr/>
        </p:nvGrpSpPr>
        <p:grpSpPr>
          <a:xfrm>
            <a:off x="457200" y="274638"/>
            <a:ext cx="8229600" cy="548641"/>
            <a:chOff x="0" y="0"/>
            <a:chExt cx="8229600" cy="548640"/>
          </a:xfrm>
        </p:grpSpPr>
        <p:sp>
          <p:nvSpPr>
            <p:cNvPr id="231" name="Rectangle"/>
            <p:cNvSpPr/>
            <p:nvPr/>
          </p:nvSpPr>
          <p:spPr>
            <a:xfrm>
              <a:off x="0" y="-1"/>
              <a:ext cx="8229600" cy="548642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2" name="Административная панель"/>
            <p:cNvSpPr txBox="1"/>
            <p:nvPr/>
          </p:nvSpPr>
          <p:spPr>
            <a:xfrm>
              <a:off x="52069" y="44449"/>
              <a:ext cx="8125461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2400" b="1"/>
              </a:lvl1pPr>
            </a:lstStyle>
            <a:p>
              <a:r>
                <a:t>Административная панель</a:t>
              </a:r>
            </a:p>
          </p:txBody>
        </p:sp>
      </p:grpSp>
      <p:pic>
        <p:nvPicPr>
          <p:cNvPr id="23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2" y="1109381"/>
            <a:ext cx="5649201" cy="49129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5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400" y="1109381"/>
            <a:ext cx="5947993" cy="49245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Title"/>
          <p:cNvGrpSpPr/>
          <p:nvPr/>
        </p:nvGrpSpPr>
        <p:grpSpPr>
          <a:xfrm>
            <a:off x="457200" y="261937"/>
            <a:ext cx="8229600" cy="574042"/>
            <a:chOff x="0" y="0"/>
            <a:chExt cx="8229600" cy="574040"/>
          </a:xfrm>
        </p:grpSpPr>
        <p:sp>
          <p:nvSpPr>
            <p:cNvPr id="237" name="Rectangle"/>
            <p:cNvSpPr/>
            <p:nvPr/>
          </p:nvSpPr>
          <p:spPr>
            <a:xfrm>
              <a:off x="0" y="12699"/>
              <a:ext cx="8229600" cy="548641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8" name="Заключение"/>
            <p:cNvSpPr txBox="1"/>
            <p:nvPr/>
          </p:nvSpPr>
          <p:spPr>
            <a:xfrm>
              <a:off x="52069" y="-1"/>
              <a:ext cx="8125461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3200" b="1"/>
              </a:lvl1pPr>
            </a:lstStyle>
            <a:p>
              <a:r>
                <a:t>Заключение</a:t>
              </a:r>
            </a:p>
          </p:txBody>
        </p:sp>
      </p:grpSp>
      <p:sp>
        <p:nvSpPr>
          <p:cNvPr id="2" name="Goal">
            <a:extLst>
              <a:ext uri="{FF2B5EF4-FFF2-40B4-BE49-F238E27FC236}">
                <a16:creationId xmlns:a16="http://schemas.microsoft.com/office/drawing/2014/main" id="{A4F38585-41E1-D932-4758-255A2A78A408}"/>
              </a:ext>
            </a:extLst>
          </p:cNvPr>
          <p:cNvSpPr txBox="1"/>
          <p:nvPr/>
        </p:nvSpPr>
        <p:spPr>
          <a:xfrm>
            <a:off x="457200" y="1028345"/>
            <a:ext cx="5492427" cy="2400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>
            <a:lvl1pPr>
              <a:defRPr sz="2400"/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Была р</a:t>
            </a:r>
            <a:r>
              <a:rPr dirty="0" err="1"/>
              <a:t>азработа</a:t>
            </a:r>
            <a:r>
              <a:rPr lang="ru-RU" dirty="0"/>
              <a:t>на</a:t>
            </a:r>
            <a:r>
              <a:rPr dirty="0"/>
              <a:t> </a:t>
            </a:r>
            <a:r>
              <a:rPr dirty="0" err="1"/>
              <a:t>многоязычн</a:t>
            </a:r>
            <a:r>
              <a:rPr lang="ru-RU" dirty="0"/>
              <a:t>ая</a:t>
            </a:r>
            <a:r>
              <a:rPr dirty="0"/>
              <a:t> </a:t>
            </a:r>
            <a:r>
              <a:rPr dirty="0" err="1"/>
              <a:t>систем</a:t>
            </a:r>
            <a:r>
              <a:rPr lang="ru-RU" dirty="0"/>
              <a:t>а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dirty="0"/>
              <a:t> </a:t>
            </a:r>
            <a:r>
              <a:rPr dirty="0" err="1"/>
              <a:t>иностранных</a:t>
            </a:r>
            <a:r>
              <a:rPr dirty="0"/>
              <a:t> </a:t>
            </a:r>
            <a:r>
              <a:rPr dirty="0" err="1"/>
              <a:t>студентов</a:t>
            </a:r>
            <a:r>
              <a:rPr lang="ru-RU" dirty="0"/>
              <a:t>.</a:t>
            </a:r>
            <a:r>
              <a:rPr dirty="0"/>
              <a:t> </a:t>
            </a: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Были созданы</a:t>
            </a:r>
            <a:r>
              <a:rPr dirty="0"/>
              <a:t> Telegram-</a:t>
            </a:r>
            <a:r>
              <a:rPr dirty="0" err="1"/>
              <a:t>бот</a:t>
            </a:r>
            <a:r>
              <a:rPr dirty="0"/>
              <a:t>, </a:t>
            </a:r>
            <a:r>
              <a:rPr dirty="0" err="1"/>
              <a:t>веб-приложение</a:t>
            </a:r>
            <a:r>
              <a:rPr dirty="0"/>
              <a:t> и </a:t>
            </a:r>
            <a:r>
              <a:rPr dirty="0" err="1"/>
              <a:t>административн</a:t>
            </a:r>
            <a:r>
              <a:rPr lang="ru-RU" dirty="0"/>
              <a:t>ая</a:t>
            </a:r>
            <a:r>
              <a:rPr dirty="0"/>
              <a:t> </a:t>
            </a:r>
            <a:r>
              <a:rPr dirty="0" err="1"/>
              <a:t>панель</a:t>
            </a:r>
            <a:r>
              <a:rPr lang="ru-RU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028231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DD1FEB-0019-4BC1-A907-61CA536DA53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1b902aec-cf76-4ca1-b822-c940fe1a51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Вениамин Гребенев</cp:lastModifiedBy>
  <cp:revision>2</cp:revision>
  <dcterms:modified xsi:type="dcterms:W3CDTF">2026-06-06T12:57:25Z</dcterms:modified>
</cp:coreProperties>
</file>