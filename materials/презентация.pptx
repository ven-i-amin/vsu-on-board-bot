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64" r:id="rId4"/>
    <p:sldId id="265" r:id="rId5"/>
    <p:sldId id="266" r:id="rId6"/>
    <p:sldId id="274" r:id="rId7"/>
    <p:sldId id="275" r:id="rId8"/>
    <p:sldId id="276" r:id="rId9"/>
    <p:sldId id="282" r:id="rId10"/>
    <p:sldId id="277" r:id="rId11"/>
    <p:sldId id="284" r:id="rId12"/>
    <p:sldId id="278" r:id="rId13"/>
    <p:sldId id="280" r:id="rId14"/>
    <p:sldId id="28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32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AA13F-4626-4854-1259-6E61D2562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6DA7E-6853-8207-8BB3-BEDAB16FC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4E1A-DB0C-F617-25D3-D7DE00E8C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3297B-A41D-A90F-40D4-83A48CF8C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6041E-F20D-D797-7CBF-38661F08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9632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48CB-990F-94D1-2519-7D840F141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CEF14-E920-B891-32F6-D85EEACD1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5E87D-9D31-423E-6369-5D87BC645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612D6-1674-BD56-54A4-31AFB1C59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BEFAA-CC1F-D2B4-0B50-7FB0C937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983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72B2A-8BB9-AA34-4E24-1A349CCF0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7F748-1F4C-7510-FA8F-DB9661C12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37401-E3E1-A297-15A6-EAA6C978D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32936-F801-9DA9-888D-A0C1934A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F3865-9E5E-D06F-F5B3-3DF3D294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095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49BE2-D473-E1C5-3AA3-53C0DC084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DCA03-905D-E67F-73CA-7C1B46988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FCD8E-8515-4843-6B50-AE26A29E7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2BE58-94B0-04F8-D269-0A4F53AA0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A4AD4-27F0-C6F8-F4FE-8BAF6A60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C5315-CE51-0F15-9C35-3E292A59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599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B3554-2C5B-E5F8-0B08-A8A19D6FF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B0614-C990-221E-CD04-20B10867E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16B0C-A306-D012-B219-0BD096285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8FE264-A4DC-70A2-6109-B57472B86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8960CC-B370-955F-2AE0-04C3872ED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A2A49B-16AD-97CA-5FE9-0669B9FEA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9D7F9-1C25-DA56-3587-A0DEA60E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783C8-9F35-A6DE-FA78-A6F923832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2653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A5B5-6A2E-122B-4064-6AECA6EAF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A3559-31CC-1333-C200-BF8B3D442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0531D-D477-5D0E-64AE-A937FD082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FC1BC-E1A3-0396-A740-710FEEC1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7312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5275E1-CE69-7CE6-0851-C7D78D2AA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D230D8-2E23-FE47-59E6-1A056195F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A037F-1EF2-62D7-D80C-866689D3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5377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5865-0BBA-2E6C-9FB3-8AC040848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9C515-248F-73A3-76FA-D6E3ABE16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BD154-5E5E-72D9-C0DB-04AB772DB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047BD-7645-9F23-7CA2-7889C782C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1210F-8E12-32D8-3BD0-8BE3F0EF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ACE21-D7EC-7D78-9CEE-BC04CF32D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1441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79AB-4999-14CE-5C35-38ACFA042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9C8468-715C-2FEC-737A-DF264B4FF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BAF07-182F-AE6C-5C1E-CF1D66380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B0FB6-B806-2653-C44C-5E67360B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B55A7-D43D-921F-40F2-CFC03A0C4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56B0E-AA0D-F746-CA41-F32ECBBD3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1550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0A70A-A6A9-CD4A-DC14-A540A8352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165E2-3533-4000-9FDE-08D57AE90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5AB5C-A756-B7BE-32F2-B816F9FD1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E9E3A-3C81-247D-E1B7-00641424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1C053-DEAE-B946-6A9C-CE0D5FCA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4654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D5411D-67A0-7254-9168-706132CC8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93E89-9AFB-D178-30F9-450CFA3BD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2449A-11FF-8AAD-3597-DE4725E2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13733-3B04-885D-316A-5F6B86B31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0964F-1BB4-9FB4-2301-95A1CE0B0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2219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AA13F-4626-4854-1259-6E61D2562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6DA7E-6853-8207-8BB3-BEDAB16FC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4E1A-DB0C-F617-25D3-D7DE00E8C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3297B-A41D-A90F-40D4-83A48CF8C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6041E-F20D-D797-7CBF-38661F08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9632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48CB-990F-94D1-2519-7D840F141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CEF14-E920-B891-32F6-D85EEACD1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5E87D-9D31-423E-6369-5D87BC645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612D6-1674-BD56-54A4-31AFB1C59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BEFAA-CC1F-D2B4-0B50-7FB0C937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9834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72B2A-8BB9-AA34-4E24-1A349CCF0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7F748-1F4C-7510-FA8F-DB9661C12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37401-E3E1-A297-15A6-EAA6C978D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32936-F801-9DA9-888D-A0C1934A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F3865-9E5E-D06F-F5B3-3DF3D294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095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49BE2-D473-E1C5-3AA3-53C0DC084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DCA03-905D-E67F-73CA-7C1B46988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FCD8E-8515-4843-6B50-AE26A29E7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2BE58-94B0-04F8-D269-0A4F53AA0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A4AD4-27F0-C6F8-F4FE-8BAF6A60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C5315-CE51-0F15-9C35-3E292A59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599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B3554-2C5B-E5F8-0B08-A8A19D6FF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B0614-C990-221E-CD04-20B10867E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16B0C-A306-D012-B219-0BD096285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8FE264-A4DC-70A2-6109-B57472B86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8960CC-B370-955F-2AE0-04C3872ED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A2A49B-16AD-97CA-5FE9-0669B9FEA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9D7F9-1C25-DA56-3587-A0DEA60E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783C8-9F35-A6DE-FA78-A6F923832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2653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A5B5-6A2E-122B-4064-6AECA6EAF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A3559-31CC-1333-C200-BF8B3D442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0531D-D477-5D0E-64AE-A937FD082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FC1BC-E1A3-0396-A740-710FEEC1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7312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5275E1-CE69-7CE6-0851-C7D78D2AA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D230D8-2E23-FE47-59E6-1A056195F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A037F-1EF2-62D7-D80C-866689D3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53775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5865-0BBA-2E6C-9FB3-8AC040848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9C515-248F-73A3-76FA-D6E3ABE16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BD154-5E5E-72D9-C0DB-04AB772DB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047BD-7645-9F23-7CA2-7889C782C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1210F-8E12-32D8-3BD0-8BE3F0EF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ACE21-D7EC-7D78-9CEE-BC04CF32D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1441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79AB-4999-14CE-5C35-38ACFA042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9C8468-715C-2FEC-737A-DF264B4FF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BAF07-182F-AE6C-5C1E-CF1D66380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B0FB6-B806-2653-C44C-5E67360B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B55A7-D43D-921F-40F2-CFC03A0C4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56B0E-AA0D-F746-CA41-F32ECBBD3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1550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0A70A-A6A9-CD4A-DC14-A540A8352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165E2-3533-4000-9FDE-08D57AE90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5AB5C-A756-B7BE-32F2-B816F9FD1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E9E3A-3C81-247D-E1B7-00641424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1C053-DEAE-B946-6A9C-CE0D5FCA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46547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D5411D-67A0-7254-9168-706132CC8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93E89-9AFB-D178-30F9-450CFA3BD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2449A-11FF-8AAD-3597-DE4725E2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13733-3B04-885D-316A-5F6B86B31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0964F-1BB4-9FB4-2301-95A1CE0B0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221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FFE632-1C50-73FE-BEEE-4F74B7F27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7D119-B57D-6788-5491-4585CB780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516CD-A5E1-C2CE-12B8-A3102CA9D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E3D4E-A4EF-2687-9D5A-B6045C483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20B26-0055-68FD-F037-B02A84DB7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8954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FFE632-1C50-73FE-BEEE-4F74B7F27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7D119-B57D-6788-5491-4585CB780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516CD-A5E1-C2CE-12B8-A3102CA9D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094FA-D0C0-4D0C-8DCD-B563085F197A}" type="datetimeFigureOut">
              <a:rPr lang="en-AU" smtClean="0"/>
              <a:t>6/06/2026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E3D4E-A4EF-2687-9D5A-B6045C483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20B26-0055-68FD-F037-B02A84DB7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368C5A-989B-466A-85BF-0E1DE763AA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8954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UniText"/>
          <p:cNvSpPr>
            <a:spLocks noGrp="1"/>
          </p:cNvSpPr>
          <p:nvPr/>
        </p:nvSpPr>
        <p:spPr>
          <a:xfrm>
            <a:off x="457200" y="27463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ru-RU" sz="1200" dirty="0">
                <a:solidFill>
                  <a:srgbClr val="404040"/>
                </a:solidFill>
              </a:rPr>
              <a:t>Минобрнауки России | ФГБОУ ВО «Воронежский государственный университет»</a:t>
            </a:r>
          </a:p>
          <a:p>
            <a:pPr algn="ctr">
              <a:buNone/>
            </a:pPr>
            <a:r>
              <a:rPr lang="ru-RU" sz="1200" dirty="0">
                <a:solidFill>
                  <a:srgbClr val="404040"/>
                </a:solidFill>
              </a:rPr>
              <a:t>Факультет компьютерных наук | Каф. программирования и ИТ</a:t>
            </a: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457200" y="1600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ru-RU" sz="3600" b="1" dirty="0">
                <a:solidFill>
                  <a:srgbClr val="000000"/>
                </a:solidFill>
              </a:rPr>
              <a:t>Сервис для помощи иностранным студентам</a:t>
            </a:r>
          </a:p>
        </p:txBody>
      </p:sp>
      <p:sp>
        <p:nvSpPr>
          <p:cNvPr id="4" name="Discipline"/>
          <p:cNvSpPr>
            <a:spLocks noGrp="1"/>
          </p:cNvSpPr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ru-RU" sz="1600" dirty="0">
                <a:solidFill>
                  <a:srgbClr val="000000"/>
                </a:solidFill>
              </a:rPr>
              <a:t>Курсовая работа по дисциплине «Теория информационных процессов и систем»</a:t>
            </a:r>
          </a:p>
          <a:p>
            <a:pPr algn="ctr">
              <a:buNone/>
            </a:pPr>
            <a:r>
              <a:rPr lang="ru-RU" sz="1600" dirty="0">
                <a:solidFill>
                  <a:srgbClr val="000000"/>
                </a:solidFill>
              </a:rPr>
              <a:t>6 семестр 2025/2026 учебного года</a:t>
            </a:r>
          </a:p>
        </p:txBody>
      </p:sp>
      <p:sp>
        <p:nvSpPr>
          <p:cNvPr id="5" name="Authors"/>
          <p:cNvSpPr>
            <a:spLocks noGrp="1"/>
          </p:cNvSpPr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>
              <a:buNone/>
            </a:pPr>
            <a:r>
              <a:rPr lang="ru-RU" sz="1400" dirty="0">
                <a:solidFill>
                  <a:srgbClr val="404040"/>
                </a:solidFill>
              </a:rPr>
              <a:t>Обучающийся: ст. 3 курса В.А. Гребенев</a:t>
            </a:r>
          </a:p>
          <a:p>
            <a:pPr algn="ctr">
              <a:buNone/>
            </a:pPr>
            <a:r>
              <a:rPr lang="ru-RU" sz="1400" dirty="0">
                <a:solidFill>
                  <a:srgbClr val="404040"/>
                </a:solidFill>
              </a:rPr>
              <a:t>Руководитель: д.э.н., к.ф.-м.н., проф. Е.Н. Десятирикова</a:t>
            </a:r>
          </a:p>
          <a:p>
            <a:pPr algn="ctr">
              <a:buNone/>
            </a:pPr>
            <a:r>
              <a:rPr lang="ru-RU" sz="1400" dirty="0">
                <a:solidFill>
                  <a:srgbClr val="404040"/>
                </a:solidFill>
              </a:rPr>
              <a:t>Воронеж 2025</a:t>
            </a:r>
          </a:p>
        </p:txBody>
      </p:sp>
    </p:spTree>
    <p:extLst>
      <p:ext uri="{BB962C8B-B14F-4D97-AF65-F5344CB8AC3E}">
        <p14:creationId xmlns:p14="http://schemas.microsoft.com/office/powerpoint/2010/main" val="285514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11053482" cy="54864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lIns="91440" tIns="45720" rIns="91440" bIns="45720" anchor="ctr"/>
          <a:lstStyle/>
          <a:p>
            <a:pPr algn="l"/>
            <a:r>
              <a:rPr lang="ru-RU" sz="3200" b="1" dirty="0">
                <a:solidFill>
                  <a:srgbClr val="000000"/>
                </a:solidFill>
              </a:rPr>
              <a:t>Введение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1668929"/>
            <a:ext cx="5277970" cy="57156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Количество иностранных студентов в российских университетах постоянно растёт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</a:rPr>
              <a:t>Иностранные студенты сталкиваются с вопросами об учёбе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1026" name="Picture 2" descr="Россия бьет рекорды: число иностранных студентов достигло 389 тысяч!">
            <a:extLst>
              <a:ext uri="{FF2B5EF4-FFF2-40B4-BE49-F238E27FC236}">
                <a16:creationId xmlns:a16="http://schemas.microsoft.com/office/drawing/2014/main" id="{4464CF65-CAFC-44FF-B288-ED98EACECC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84"/>
          <a:stretch/>
        </p:blipFill>
        <p:spPr bwMode="auto">
          <a:xfrm>
            <a:off x="5735170" y="1668929"/>
            <a:ext cx="6311153" cy="3669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02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54864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ru-RU" sz="3200" b="1" dirty="0">
                <a:solidFill>
                  <a:srgbClr val="000000"/>
                </a:solidFill>
              </a:rPr>
              <a:t>Цель и задачи</a:t>
            </a:r>
          </a:p>
        </p:txBody>
      </p:sp>
      <p:sp>
        <p:nvSpPr>
          <p:cNvPr id="3" name="Goal"/>
          <p:cNvSpPr>
            <a:spLocks noGrp="1"/>
          </p:cNvSpPr>
          <p:nvPr/>
        </p:nvSpPr>
        <p:spPr>
          <a:xfrm>
            <a:off x="813547" y="3018865"/>
            <a:ext cx="10564906" cy="1311088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/>
          <a:lstStyle/>
          <a:p>
            <a:pPr algn="l">
              <a:buNone/>
            </a:pPr>
            <a:r>
              <a:rPr lang="ru-RU" sz="2400" dirty="0">
                <a:solidFill>
                  <a:srgbClr val="000000"/>
                </a:solidFill>
              </a:rPr>
              <a:t>Разработать многоязычную систему поддержки иностранных студентов, включающую Telegram-бота, веб-приложение и административную панель</a:t>
            </a:r>
          </a:p>
        </p:txBody>
      </p:sp>
      <p:sp>
        <p:nvSpPr>
          <p:cNvPr id="4" name="Tasks"/>
          <p:cNvSpPr>
            <a:spLocks noGrp="1"/>
          </p:cNvSpPr>
          <p:nvPr/>
        </p:nvSpPr>
        <p:spPr>
          <a:xfrm>
            <a:off x="457200" y="1554480"/>
            <a:ext cx="8229600" cy="507552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/>
          <a:lstStyle/>
          <a:p>
            <a:pPr algn="l">
              <a:buNone/>
            </a:pPr>
            <a:endParaRPr lang="ru-RU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54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54864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ru-RU" sz="3200" b="1" dirty="0">
                <a:solidFill>
                  <a:srgbClr val="000000"/>
                </a:solidFill>
              </a:rPr>
              <a:t>Технологический стек</a:t>
            </a:r>
          </a:p>
        </p:txBody>
      </p:sp>
      <p:sp>
        <p:nvSpPr>
          <p:cNvPr id="3" name="ColLeft"/>
          <p:cNvSpPr>
            <a:spLocks noGrp="1"/>
          </p:cNvSpPr>
          <p:nvPr/>
        </p:nvSpPr>
        <p:spPr>
          <a:xfrm>
            <a:off x="457200" y="914400"/>
            <a:ext cx="3962400" cy="57156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/>
          <a:lstStyle/>
          <a:p>
            <a:pPr algn="l">
              <a:buNone/>
            </a:pPr>
            <a:r>
              <a:rPr lang="ru-RU" sz="2400" b="1" dirty="0">
                <a:solidFill>
                  <a:srgbClr val="000000"/>
                </a:solidFill>
              </a:rPr>
              <a:t>Бэкенд</a:t>
            </a:r>
          </a:p>
          <a:p>
            <a:pPr marL="228600" indent="-228600">
              <a:buChar char="—"/>
            </a:pPr>
            <a:r>
              <a:rPr lang="ru-RU" sz="2400" dirty="0">
                <a:solidFill>
                  <a:srgbClr val="000000"/>
                </a:solidFill>
              </a:rPr>
              <a:t>Java 21 + Spring Boot 3</a:t>
            </a:r>
          </a:p>
          <a:p>
            <a:pPr marL="228600" indent="-228600">
              <a:buChar char="—"/>
            </a:pPr>
            <a:r>
              <a:rPr lang="ru-RU" sz="2400" dirty="0">
                <a:solidFill>
                  <a:srgbClr val="000000"/>
                </a:solidFill>
              </a:rPr>
              <a:t>Spring Cloud Gateway (API Gateway)</a:t>
            </a:r>
          </a:p>
          <a:p>
            <a:pPr marL="228600" indent="-228600">
              <a:buChar char="—"/>
            </a:pPr>
            <a:r>
              <a:rPr lang="ru-RU" sz="2400" dirty="0">
                <a:solidFill>
                  <a:srgbClr val="000000"/>
                </a:solidFill>
              </a:rPr>
              <a:t>Spring MVC (Core Service)</a:t>
            </a:r>
          </a:p>
          <a:p>
            <a:pPr marL="228600" indent="-228600">
              <a:buChar char="—"/>
            </a:pPr>
            <a:r>
              <a:rPr lang="ru-RU" sz="2400" dirty="0">
                <a:solidFill>
                  <a:srgbClr val="000000"/>
                </a:solidFill>
              </a:rPr>
              <a:t>Telegram Bot API (tg-bot-service)</a:t>
            </a:r>
          </a:p>
          <a:p>
            <a:pPr marL="228600" indent="-228600">
              <a:buChar char="—"/>
            </a:pPr>
            <a:r>
              <a:rPr lang="ru-RU" sz="2400" dirty="0">
                <a:solidFill>
                  <a:srgbClr val="000000"/>
                </a:solidFill>
              </a:rPr>
              <a:t>JWT-аутентификация</a:t>
            </a:r>
          </a:p>
          <a:p>
            <a:pPr algn="l">
              <a:buNone/>
            </a:pPr>
            <a:r>
              <a:rPr lang="ru-RU" sz="2400" b="1" dirty="0">
                <a:solidFill>
                  <a:srgbClr val="000000"/>
                </a:solidFill>
              </a:rPr>
              <a:t>Хранение данных</a:t>
            </a:r>
          </a:p>
          <a:p>
            <a:pPr marL="228600" indent="-228600">
              <a:buChar char="—"/>
            </a:pPr>
            <a:r>
              <a:rPr lang="ru-RU" sz="2400" dirty="0">
                <a:solidFill>
                  <a:srgbClr val="000000"/>
                </a:solidFill>
              </a:rPr>
              <a:t>MongoDB (основная база данных)</a:t>
            </a:r>
          </a:p>
          <a:p>
            <a:pPr marL="228600" indent="-228600">
              <a:buChar char="—"/>
            </a:pPr>
            <a:r>
              <a:rPr lang="ru-RU" sz="2400" dirty="0">
                <a:solidFill>
                  <a:srgbClr val="000000"/>
                </a:solidFill>
              </a:rPr>
              <a:t>Redis (сессии бота, кеш)</a:t>
            </a:r>
          </a:p>
        </p:txBody>
      </p:sp>
      <p:sp>
        <p:nvSpPr>
          <p:cNvPr id="4" name="ColRight"/>
          <p:cNvSpPr>
            <a:spLocks noGrp="1"/>
          </p:cNvSpPr>
          <p:nvPr/>
        </p:nvSpPr>
        <p:spPr>
          <a:xfrm>
            <a:off x="7772402" y="914400"/>
            <a:ext cx="3962400" cy="57156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/>
          <a:lstStyle/>
          <a:p>
            <a:pPr algn="l">
              <a:buNone/>
            </a:pPr>
            <a:r>
              <a:rPr lang="ru-RU" sz="2400" b="1" dirty="0">
                <a:solidFill>
                  <a:srgbClr val="000000"/>
                </a:solidFill>
              </a:rPr>
              <a:t>Фронтенд</a:t>
            </a:r>
          </a:p>
          <a:p>
            <a:pPr marL="228600" indent="-228600">
              <a:buChar char="—"/>
            </a:pPr>
            <a:r>
              <a:rPr lang="ru-RU" sz="2400" dirty="0">
                <a:solidFill>
                  <a:srgbClr val="000000"/>
                </a:solidFill>
              </a:rPr>
              <a:t>React 19 + TypeScript</a:t>
            </a:r>
          </a:p>
          <a:p>
            <a:pPr marL="228600" indent="-228600">
              <a:buChar char="—"/>
            </a:pPr>
            <a:r>
              <a:rPr lang="ru-RU" sz="2400" dirty="0">
                <a:solidFill>
                  <a:srgbClr val="000000"/>
                </a:solidFill>
              </a:rPr>
              <a:t>Vite (сборщик)</a:t>
            </a:r>
          </a:p>
          <a:p>
            <a:pPr marL="228600" indent="-228600">
              <a:buChar char="—"/>
            </a:pPr>
            <a:r>
              <a:rPr lang="ru-RU" sz="2400" dirty="0">
                <a:solidFill>
                  <a:srgbClr val="000000"/>
                </a:solidFill>
              </a:rPr>
              <a:t>Tiptap 3 (rich-text редактор)</a:t>
            </a:r>
          </a:p>
          <a:p>
            <a:pPr algn="l">
              <a:buNone/>
            </a:pPr>
            <a:r>
              <a:rPr lang="ru-RU" sz="2400" b="1" dirty="0">
                <a:solidFill>
                  <a:srgbClr val="000000"/>
                </a:solidFill>
              </a:rPr>
              <a:t>Инфраструктура</a:t>
            </a:r>
          </a:p>
          <a:p>
            <a:pPr marL="228600" indent="-228600">
              <a:buChar char="—"/>
            </a:pPr>
            <a:r>
              <a:rPr lang="ru-RU" sz="2400" dirty="0">
                <a:solidFill>
                  <a:srgbClr val="000000"/>
                </a:solidFill>
              </a:rPr>
              <a:t>Docker + Docker Compose</a:t>
            </a:r>
          </a:p>
          <a:p>
            <a:pPr marL="228600" indent="-228600">
              <a:buChar char="—"/>
            </a:pPr>
            <a:r>
              <a:rPr lang="ru-RU" sz="2400" dirty="0">
                <a:solidFill>
                  <a:srgbClr val="000000"/>
                </a:solidFill>
              </a:rPr>
              <a:t>IBM Semeru Runtimes (OpenJ9 JVM)</a:t>
            </a:r>
          </a:p>
          <a:p>
            <a:pPr marL="228600" indent="-228600">
              <a:buChar char="—"/>
            </a:pPr>
            <a:r>
              <a:rPr lang="ru-RU" sz="2400" dirty="0">
                <a:solidFill>
                  <a:srgbClr val="000000"/>
                </a:solidFill>
              </a:rPr>
              <a:t>Gradle 9</a:t>
            </a:r>
          </a:p>
        </p:txBody>
      </p:sp>
    </p:spTree>
    <p:extLst>
      <p:ext uri="{BB962C8B-B14F-4D97-AF65-F5344CB8AC3E}">
        <p14:creationId xmlns:p14="http://schemas.microsoft.com/office/powerpoint/2010/main" val="2294485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54864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ru-RU" sz="3200" b="1" dirty="0">
                <a:solidFill>
                  <a:srgbClr val="000000"/>
                </a:solidFill>
              </a:rPr>
              <a:t>Архитектура системы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05FBA5-8FFA-33D2-015F-5C1773507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62" y="1323135"/>
            <a:ext cx="10346076" cy="458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3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54864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ru-RU" sz="3200" b="1" dirty="0">
                <a:solidFill>
                  <a:srgbClr val="000000"/>
                </a:solidFill>
              </a:rPr>
              <a:t>Модель данных (MongoDB)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333A46-2F31-9E10-044B-77F08823C1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18" y="1093122"/>
            <a:ext cx="8787653" cy="537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85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54864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ru-RU" sz="3200" b="1" dirty="0">
                <a:solidFill>
                  <a:srgbClr val="000000"/>
                </a:solidFill>
              </a:rPr>
              <a:t>API Gateway</a:t>
            </a:r>
          </a:p>
        </p:txBody>
      </p:sp>
      <p:sp>
        <p:nvSpPr>
          <p:cNvPr id="3" name="Left"/>
          <p:cNvSpPr>
            <a:spLocks noGrp="1"/>
          </p:cNvSpPr>
          <p:nvPr/>
        </p:nvSpPr>
        <p:spPr>
          <a:xfrm>
            <a:off x="457200" y="1532964"/>
            <a:ext cx="5244353" cy="57156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Единая точка входа для всех запросов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Фильтр AuthorizationHeaderFilter для админ-эндпоинтов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Маршруты: /api/** защищен, /admin, /app, /bot — публичны</a:t>
            </a:r>
          </a:p>
        </p:txBody>
      </p:sp>
      <p:pic>
        <p:nvPicPr>
          <p:cNvPr id="2050" name="Picture 2" descr="Api Gateway Vector Art, Icons, and Graphics for Free Download">
            <a:extLst>
              <a:ext uri="{FF2B5EF4-FFF2-40B4-BE49-F238E27FC236}">
                <a16:creationId xmlns:a16="http://schemas.microsoft.com/office/drawing/2014/main" id="{A61A58DF-F72D-139F-2E68-F6958609C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3393" y="867895"/>
            <a:ext cx="5122209" cy="5122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506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54864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ru-RU" sz="3200" b="1" dirty="0">
                <a:solidFill>
                  <a:srgbClr val="000000"/>
                </a:solidFill>
              </a:rPr>
              <a:t>Core Service</a:t>
            </a:r>
          </a:p>
        </p:txBody>
      </p:sp>
      <p:sp>
        <p:nvSpPr>
          <p:cNvPr id="3" name="Left"/>
          <p:cNvSpPr>
            <a:spLocks noGrp="1"/>
          </p:cNvSpPr>
          <p:nvPr/>
        </p:nvSpPr>
        <p:spPr>
          <a:xfrm>
            <a:off x="457200" y="1055594"/>
            <a:ext cx="3962400" cy="57156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/>
          <a:lstStyle/>
          <a:p>
            <a:pPr algn="l">
              <a:buNone/>
            </a:pP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4" name="Right"/>
          <p:cNvSpPr>
            <a:spLocks noGrp="1"/>
          </p:cNvSpPr>
          <p:nvPr/>
        </p:nvSpPr>
        <p:spPr>
          <a:xfrm>
            <a:off x="457200" y="1798543"/>
            <a:ext cx="5156947" cy="57156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Центральный компонент</a:t>
            </a:r>
            <a:endParaRPr lang="en-US" sz="2400" dirty="0">
              <a:solidFill>
                <a:srgbClr val="00000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чтение групп, вопросов, файлов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CRUD разделов, вопросов, языков, статистика</a:t>
            </a:r>
          </a:p>
        </p:txBody>
      </p:sp>
      <p:pic>
        <p:nvPicPr>
          <p:cNvPr id="3074" name="Picture 2" descr="What Are Microservices? | Akamai">
            <a:extLst>
              <a:ext uri="{FF2B5EF4-FFF2-40B4-BE49-F238E27FC236}">
                <a16:creationId xmlns:a16="http://schemas.microsoft.com/office/drawing/2014/main" id="{99C4332A-5A71-E658-AA37-1A2CD6C86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" t="6432" r="-53" b="11659"/>
          <a:stretch/>
        </p:blipFill>
        <p:spPr bwMode="auto">
          <a:xfrm>
            <a:off x="5508812" y="1798543"/>
            <a:ext cx="6355976" cy="2911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2282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54864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ru-RU" sz="3200" b="1" dirty="0">
                <a:solidFill>
                  <a:srgbClr val="000000"/>
                </a:solidFill>
              </a:rPr>
              <a:t>Сервис Telegram-бота</a:t>
            </a:r>
          </a:p>
        </p:txBody>
      </p:sp>
      <p:sp>
        <p:nvSpPr>
          <p:cNvPr id="3" name="Left"/>
          <p:cNvSpPr>
            <a:spLocks noGrp="1"/>
          </p:cNvSpPr>
          <p:nvPr/>
        </p:nvSpPr>
        <p:spPr>
          <a:xfrm>
            <a:off x="457200" y="1364877"/>
            <a:ext cx="5331759" cy="57156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/>
          <a:lstStyle/>
          <a:p>
            <a:pPr algn="l">
              <a:buNone/>
            </a:pPr>
            <a:r>
              <a:rPr lang="ru-RU" sz="2000" b="1" dirty="0">
                <a:solidFill>
                  <a:srgbClr val="000000"/>
                </a:solidFill>
              </a:rPr>
              <a:t>Группы состояний botState:</a:t>
            </a:r>
          </a:p>
          <a:p>
            <a:r>
              <a:rPr lang="ru-RU" sz="2000" b="1" dirty="0">
                <a:solidFill>
                  <a:srgbClr val="000000"/>
                </a:solidFill>
              </a:rPr>
              <a:t>LISTEN</a:t>
            </a:r>
            <a:r>
              <a:rPr lang="ru-RU" sz="2000" dirty="0">
                <a:solidFill>
                  <a:srgbClr val="000000"/>
                </a:solidFill>
              </a:rPr>
              <a:t>: ожидание ответа пользователя</a:t>
            </a:r>
          </a:p>
          <a:p>
            <a:r>
              <a:rPr lang="ru-RU" sz="2000" b="1" dirty="0">
                <a:solidFill>
                  <a:srgbClr val="000000"/>
                </a:solidFill>
              </a:rPr>
              <a:t>ANSWER</a:t>
            </a:r>
            <a:r>
              <a:rPr lang="ru-RU" sz="2000" dirty="0">
                <a:solidFill>
                  <a:srgbClr val="000000"/>
                </a:solidFill>
              </a:rPr>
              <a:t>: отправка сообщения пользователю</a:t>
            </a:r>
          </a:p>
          <a:p>
            <a:r>
              <a:rPr lang="ru-RU" sz="2000" b="1" dirty="0">
                <a:solidFill>
                  <a:srgbClr val="000000"/>
                </a:solidFill>
              </a:rPr>
              <a:t>DELETE</a:t>
            </a:r>
            <a:r>
              <a:rPr lang="ru-RU" sz="2000" dirty="0">
                <a:solidFill>
                  <a:srgbClr val="000000"/>
                </a:solidFill>
              </a:rPr>
              <a:t>: удаление старого сообщения</a:t>
            </a:r>
            <a:endParaRPr lang="en-US" sz="2000" dirty="0">
              <a:solidFill>
                <a:srgbClr val="000000"/>
              </a:solidFill>
            </a:endParaRPr>
          </a:p>
          <a:p>
            <a:endParaRPr lang="ru-RU" sz="2000" dirty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lang="ru-RU" sz="2000" b="1" dirty="0">
                <a:solidFill>
                  <a:srgbClr val="000000"/>
                </a:solidFill>
              </a:rPr>
              <a:t>Группа MessageState</a:t>
            </a:r>
            <a:endParaRPr lang="en-US" sz="2000" b="1" dirty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lang="ru-RU" sz="2000" dirty="0">
                <a:solidFill>
                  <a:srgbClr val="000000"/>
                </a:solidFill>
              </a:rPr>
              <a:t>Определяет тип передаваемого/ожидаемого сообщения</a:t>
            </a:r>
          </a:p>
          <a:p>
            <a:pPr algn="l">
              <a:buNone/>
            </a:pPr>
            <a:endParaRPr lang="en-US" sz="2000" b="1" dirty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lang="ru-RU" sz="2000" b="1" dirty="0">
                <a:solidFill>
                  <a:srgbClr val="000000"/>
                </a:solidFill>
              </a:rPr>
              <a:t>Глобальные состояния (MainMenuState):</a:t>
            </a:r>
          </a:p>
          <a:p>
            <a:r>
              <a:rPr lang="ru-RU" sz="2000" dirty="0">
                <a:solidFill>
                  <a:srgbClr val="000000"/>
                </a:solidFill>
              </a:rPr>
              <a:t>Обрабатываются всегда: возврат в главное меню, смена языка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8BD5BD-E4F4-BBCE-9A60-3D96110DD2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116" y="882967"/>
            <a:ext cx="5940425" cy="509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44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54864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ru-RU" sz="3200" b="1" dirty="0">
                <a:solidFill>
                  <a:srgbClr val="000000"/>
                </a:solidFill>
              </a:rPr>
              <a:t>Пользовательское веб-приложение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CB6536-BE3D-E19F-F52D-EFE19BAF0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4960"/>
            <a:ext cx="4462979" cy="56184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7D492E-49FB-215C-EC93-42089A4DE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375" y="823278"/>
            <a:ext cx="5940425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107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54864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ru-RU" sz="2400" b="1" dirty="0">
                <a:solidFill>
                  <a:srgbClr val="000000"/>
                </a:solidFill>
              </a:rPr>
              <a:t>Административная панель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1FC948-FFDC-55B1-7E7E-E8F8A13BD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82" y="1109382"/>
            <a:ext cx="5649200" cy="49129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C7ECE4-1960-A99E-9C02-3FD28CB8C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400" y="1109382"/>
            <a:ext cx="5947992" cy="492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447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638"/>
            <a:ext cx="8229600" cy="54864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ru-RU" sz="3200" b="1" dirty="0">
                <a:solidFill>
                  <a:srgbClr val="000000"/>
                </a:solidFill>
              </a:rPr>
              <a:t>Заключение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/>
          <a:lstStyle/>
          <a:p>
            <a:pPr algn="l">
              <a:buNone/>
            </a:pPr>
            <a:r>
              <a:rPr lang="ru-RU" sz="2400" dirty="0">
                <a:solidFill>
                  <a:srgbClr val="000000"/>
                </a:solidFill>
              </a:rPr>
              <a:t>Было создано приложение, способное помочь иностранным студентам в вгу</a:t>
            </a:r>
          </a:p>
        </p:txBody>
      </p:sp>
    </p:spTree>
    <p:extLst>
      <p:ext uri="{BB962C8B-B14F-4D97-AF65-F5344CB8AC3E}">
        <p14:creationId xmlns:p14="http://schemas.microsoft.com/office/powerpoint/2010/main" val="3019282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3110D9C-C935-3716-1AF0-02EFE7B0168B}"/>
              </a:ext>
            </a:extLst>
          </p:cNvPr>
          <p:cNvSpPr>
            <a:spLocks noGrp="1"/>
          </p:cNvSpPr>
          <p:nvPr/>
        </p:nvSpPr>
        <p:spPr>
          <a:xfrm>
            <a:off x="1981200" y="3154680"/>
            <a:ext cx="8229600" cy="54864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ru-RU" sz="3200" b="1" dirty="0">
                <a:solidFill>
                  <a:srgbClr val="000000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308081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D5B0B9-3DDE-483F-B3F8-5967AAF8DD35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2dc0beb9-c15e-4829-b1bb-ba604bb04f8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299</Words>
  <Application>Microsoft Office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Вениамин Гребенев</dc:creator>
  <cp:lastModifiedBy>Вениамин Гребенев</cp:lastModifiedBy>
  <cp:revision>2</cp:revision>
  <dcterms:created xsi:type="dcterms:W3CDTF">2026-06-06T02:30:26Z</dcterms:created>
  <dcterms:modified xsi:type="dcterms:W3CDTF">2026-06-06T03:11:44Z</dcterms:modified>
</cp:coreProperties>
</file>